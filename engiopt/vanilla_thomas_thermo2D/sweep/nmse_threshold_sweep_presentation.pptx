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31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9B4FA"/>
                </a:solidFill>
              </a:rPr>
              <a:t>Constrained LVAE for Thermoelastic2D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NMSE Threshold Sweep — Theory, Experiments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C0DE"/>
                </a:solidFill>
              </a:rPr>
              <a:t>Thomas Casartelli  ·  EngiOpt Project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C0DE"/>
                </a:solidFill>
              </a:rPr>
              <a:t>Thermoelastic2D  |  64×64 designs  |  RTX 4090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What is LVAE?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Least-Volume Autoencoder with Dynamic Pruning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9B4FA"/>
                </a:solidFill>
              </a:rP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• Autoencoder that compresses designs into a latent space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Simultaneously minimises latent dimensionality (volume loss)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Encoder maps design → z  |  Decoder maps z → design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Dimensions that carry no information are pruned 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Loss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303520" cy="502920"/>
          </a:xfrm>
          <a:prstGeom prst="rect">
            <a:avLst/>
          </a:prstGeom>
          <a:solidFill>
            <a:srgbClr val="31314E"/>
          </a:solidFill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E2AF"/>
                </a:solidFill>
              </a:rPr>
              <a:t>L  =  L_rec  +  λ · L_vol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• L_rec  =  reconstruction quality (MSE)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L_vol  =  sum of latent std deviations (volume)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λ  =  weight balancing the two objectives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Dynamic Pruning: dimensions with std → 0 are removed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7784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9E2AF"/>
                </a:solidFill>
              </a:rPr>
              <a:t>Goal: find the smallest latent space that still reconstructs designs accurately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Constrained LVAE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Replacing the fixed λ with an adaptive NMSE constraint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8BA8"/>
                </a:solidFill>
              </a:rPr>
              <a:t>The Problem with Fixed 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• Hard to tune λ manually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No guarantee on reconstruction quality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λ too high → over-compressed, poor reconstruction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λ too low → no compression, wasted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The Constrained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• Set an explicit reconstruction quality target: NMSE ≤ τ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Volume loss activates ONLY when constraint is satisfied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Model compresses as much as possible while staying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within the quality budget 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One-Sided Mode (used here)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297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9E2AF"/>
                </a:solidFill>
              </a:rPr>
              <a:t>• If NMSE &gt; τ  →  vol_active = OFF  →  focus on reconstruction</a:t>
            </a:r>
          </a:p>
          <a:p>
            <a:pPr algn="l"/>
            <a:r>
              <a:rPr sz="1400">
                <a:solidFill>
                  <a:srgbClr val="F9E2AF"/>
                </a:solidFill>
              </a:rPr>
              <a:t>• If NMSE ≤ τ  →  vol_active = ON   →  start compressing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303520" cy="14630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E2AF"/>
                </a:solidFill>
              </a:rPr>
              <a:t>NMSE  =  MSE / Var(data)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0DE"/>
                </a:solidFill>
              </a:rPr>
              <a:t>Normalised MSE — scale-free measure of reconstruction quality.
NMSE = 0 → perfect  |  NMSE = 1 → predicting the 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7784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9B4FA"/>
                </a:solidFill>
              </a:rPr>
              <a:t>τ  (nmse_threshold) is the key hyperparameter — it defines the quality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Role of the NMSE Threshold 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The dial between reconstruction quality and compression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38328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τ too 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3383280" cy="34747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• Model cannot achieve τ on training data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vol_active never turns ON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No compression pressure applied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All latent dims remain active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Model memorises training set → overfits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val_NMSE stays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00200"/>
            <a:ext cx="338328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τ sweet spot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57400"/>
            <a:ext cx="3383280" cy="34747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• τ is achievable on training data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vol_active turns ON regularly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Compression pressure applied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Unnecessary dims pruned away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Compression acts as regulariser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Best val_NMSE achieved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00200"/>
            <a:ext cx="338328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τ too 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57400"/>
            <a:ext cx="3383280" cy="34747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• τ is trivially satisfied immediately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Very strong volume pressure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Aggressive over-compression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Important dims may be pruned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Reconstruction quality degrades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val_NMSE worsens again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1500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9E2AF"/>
                </a:solidFill>
              </a:rPr>
              <a:t>Finding τ* is the goal of this sweep — the point where compression maximally helps generalisation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Experiment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W&amp;B Grid Sweep over nmse_threshold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9B4FA"/>
                </a:solidFill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9E2AF"/>
                </a:solidFill>
              </a:rPr>
              <a:t>"When does volume pressure over-compress on the training data, leading to significantly poorer validation reconstruction?"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Fixed hyperparameters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• Problem: thermoelastic2d  (64×64 designs)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Latent dim: 100  |  Batch size: 128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Learning rate: 1e-4  |  Seed: 1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Pruning epoch: 500  |  Pruning strategy: plummet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Pruning threshold: 0.05  |  Constraint mode: one_sided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Early stopping start: epoch 1000  |  Patience: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Swept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200400"/>
            <a:ext cx="5303520" cy="548640"/>
          </a:xfrm>
          <a:prstGeom prst="rect">
            <a:avLst/>
          </a:prstGeom>
          <a:solidFill>
            <a:srgbClr val="31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246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E2AF"/>
                </a:solidFill>
              </a:rPr>
              <a:t>nmse_threshold  ∈  { 0.01, 0.03, 0.05, 0.10, 0.20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947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• 5 jobs submitted via SLURM on RTX 4090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Each job runs 1 sweep agent (W&amp;B grid search)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Max epochs: 10,000  |  ~18 epochs/minute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Early stopping monitors val_nmse after epoch 1000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Sweep Results — Both Sweeps Combined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8 values of nmse_threshold · τ ∈ {0.01 … 0.70}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77724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6184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τ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600200"/>
            <a:ext cx="132588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Train NMSE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32588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61848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Val NMSE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1600200"/>
            <a:ext cx="132588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61848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Active dims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600200"/>
            <a:ext cx="1234439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618488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vol_active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600200"/>
            <a:ext cx="196596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184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Regime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947672"/>
            <a:ext cx="77724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1975103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1947672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1975103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1947672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1975103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8BA8"/>
                </a:solidFill>
              </a:rPr>
              <a:t>0.211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1947672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1975103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100/100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1947672"/>
            <a:ext cx="1234439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1975103"/>
            <a:ext cx="11887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947672"/>
            <a:ext cx="196596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975103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8BA8"/>
                </a:solidFill>
              </a:rPr>
              <a:t>Unreachable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478024"/>
            <a:ext cx="77724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2505456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2478024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250545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2478024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250545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8BA8"/>
                </a:solidFill>
              </a:rPr>
              <a:t>0.211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2478024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250545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100/100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2478024"/>
            <a:ext cx="1234439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2505456"/>
            <a:ext cx="11887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2478024"/>
            <a:ext cx="196596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505456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8BA8"/>
                </a:solidFill>
              </a:rPr>
              <a:t>Unreachable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008376"/>
            <a:ext cx="777240" cy="475488"/>
          </a:xfrm>
          <a:prstGeom prst="rect">
            <a:avLst/>
          </a:prstGeom>
          <a:solidFill>
            <a:srgbClr val="3A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9" y="303580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3008376"/>
            <a:ext cx="1325880" cy="475488"/>
          </a:xfrm>
          <a:prstGeom prst="rect">
            <a:avLst/>
          </a:prstGeom>
          <a:solidFill>
            <a:srgbClr val="3A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303580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0.067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3008376"/>
            <a:ext cx="1325880" cy="475488"/>
          </a:xfrm>
          <a:prstGeom prst="rect">
            <a:avLst/>
          </a:prstGeom>
          <a:solidFill>
            <a:srgbClr val="3A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0" y="303580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E2AF"/>
                </a:solidFill>
              </a:rPr>
              <a:t>0.198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86200" y="3008376"/>
            <a:ext cx="1325880" cy="475488"/>
          </a:xfrm>
          <a:prstGeom prst="rect">
            <a:avLst/>
          </a:prstGeom>
          <a:solidFill>
            <a:srgbClr val="3A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0" y="303580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100/100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3008376"/>
            <a:ext cx="1234439" cy="475488"/>
          </a:xfrm>
          <a:prstGeom prst="rect">
            <a:avLst/>
          </a:prstGeom>
          <a:solidFill>
            <a:srgbClr val="3A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3035808"/>
            <a:ext cx="11887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3008376"/>
            <a:ext cx="1965960" cy="475488"/>
          </a:xfrm>
          <a:prstGeom prst="rect">
            <a:avLst/>
          </a:prstGeom>
          <a:solidFill>
            <a:srgbClr val="3A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303580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E2AF"/>
                </a:solidFill>
              </a:rPr>
              <a:t>Borderline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538727"/>
            <a:ext cx="777240" cy="475488"/>
          </a:xfrm>
          <a:prstGeom prst="rect">
            <a:avLst/>
          </a:prstGeom>
          <a:solidFill>
            <a:srgbClr val="28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59" y="3566159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3538727"/>
            <a:ext cx="1325880" cy="475488"/>
          </a:xfrm>
          <a:prstGeom prst="rect">
            <a:avLst/>
          </a:prstGeom>
          <a:solidFill>
            <a:srgbClr val="28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8720" y="3566159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0.077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14600" y="3538727"/>
            <a:ext cx="1325880" cy="475488"/>
          </a:xfrm>
          <a:prstGeom prst="rect">
            <a:avLst/>
          </a:prstGeom>
          <a:solidFill>
            <a:srgbClr val="28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0" y="3566159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6E3A1"/>
                </a:solidFill>
              </a:rPr>
              <a:t>0.191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86200" y="3538727"/>
            <a:ext cx="1325880" cy="475488"/>
          </a:xfrm>
          <a:prstGeom prst="rect">
            <a:avLst/>
          </a:prstGeom>
          <a:solidFill>
            <a:srgbClr val="28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0" y="3566159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100/100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7800" y="3538727"/>
            <a:ext cx="1234439" cy="475488"/>
          </a:xfrm>
          <a:prstGeom prst="rect">
            <a:avLst/>
          </a:prstGeom>
          <a:solidFill>
            <a:srgbClr val="28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0" y="3566159"/>
            <a:ext cx="11887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60" y="3538727"/>
            <a:ext cx="1965960" cy="475488"/>
          </a:xfrm>
          <a:prstGeom prst="rect">
            <a:avLst/>
          </a:prstGeom>
          <a:solidFill>
            <a:srgbClr val="28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3566159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6E3A1"/>
                </a:solidFill>
              </a:rPr>
              <a:t>Compression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069079"/>
            <a:ext cx="777240" cy="475488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59" y="4096511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0.20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4069079"/>
            <a:ext cx="1325880" cy="475488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8720" y="4096511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0.088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14600" y="4069079"/>
            <a:ext cx="1325880" cy="475488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0" y="4096511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6E3A1"/>
                </a:solidFill>
              </a:rPr>
              <a:t>0.182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86200" y="4069079"/>
            <a:ext cx="1325880" cy="475488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0" y="4096511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97/100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57800" y="4069079"/>
            <a:ext cx="1234439" cy="475488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0" y="4096511"/>
            <a:ext cx="11887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37960" y="4069079"/>
            <a:ext cx="1965960" cy="475488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4096511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6E3A1"/>
                </a:solidFill>
              </a:rPr>
              <a:t>★ SWEET SPOT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599431"/>
            <a:ext cx="77724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59" y="4626864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0.30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43000" y="4599431"/>
            <a:ext cx="132588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88720" y="4626864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0.117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14600" y="4599431"/>
            <a:ext cx="132588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60320" y="4626864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E2AF"/>
                </a:solidFill>
              </a:rPr>
              <a:t>0.239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86200" y="4599431"/>
            <a:ext cx="132588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31920" y="4626864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43/100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57800" y="4599431"/>
            <a:ext cx="1234439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0" y="4626864"/>
            <a:ext cx="11887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37960" y="4599431"/>
            <a:ext cx="196596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83680" y="4626864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E2AF"/>
                </a:solidFill>
              </a:rPr>
              <a:t>Over-compress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5129783"/>
            <a:ext cx="77724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59" y="5157216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0.50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43000" y="5129783"/>
            <a:ext cx="132588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88720" y="515721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0.126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514600" y="5129783"/>
            <a:ext cx="132588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60320" y="515721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E2AF"/>
                </a:solidFill>
              </a:rPr>
              <a:t>0.251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86200" y="5129783"/>
            <a:ext cx="132588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31920" y="515721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45/100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57800" y="5129783"/>
            <a:ext cx="1234439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03520" y="5157216"/>
            <a:ext cx="11887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37960" y="5129783"/>
            <a:ext cx="1965960" cy="475488"/>
          </a:xfrm>
          <a:prstGeom prst="rect">
            <a:avLst/>
          </a:prstGeom>
          <a:solidFill>
            <a:srgbClr val="3A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83680" y="5157216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E2AF"/>
                </a:solidFill>
              </a:rPr>
              <a:t>Over-compress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0040" y="5660136"/>
            <a:ext cx="77724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5759" y="568756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0.70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43000" y="5660136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68756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0.131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14600" y="5660136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560320" y="568756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8BA8"/>
                </a:solidFill>
              </a:rPr>
              <a:t>0.317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886200" y="5660136"/>
            <a:ext cx="132588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31920" y="568756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14/100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57800" y="5660136"/>
            <a:ext cx="1234439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3520" y="5687568"/>
            <a:ext cx="11887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37960" y="5660136"/>
            <a:ext cx="1965960" cy="475488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83680" y="568756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8BA8"/>
                </a:solidFill>
              </a:rPr>
              <a:t>Over-compress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630936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0040" y="6355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9E2AF"/>
                </a:solidFill>
              </a:rPr>
              <a:t>★ τ = 0.20 is the sweet spot  |  τ ≥ 0.30 causes over-compression — val_NMSE worsens despite more pruning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Four regimes identified across both sweeps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2834640" cy="54864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627632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Regime 1  —  τ ≤ 0.03
(Threshold unreachable)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148840"/>
            <a:ext cx="2834640" cy="338328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265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• Train NMSE floor ≈ 0.035 &gt; τ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vol_active = OFF at all times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No compression pressure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Model memorises training → overfits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val_NMSE ≈ 0.211  (worst)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00200"/>
            <a:ext cx="2834640" cy="54864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627632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Regime 2  —  τ = 0.05
(Borderline)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148840"/>
            <a:ext cx="2834640" cy="338328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194560"/>
            <a:ext cx="265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• Train NMSE barely above τ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vol_active oscillates near threshold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Slight implicit regularisation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val_NMSE = 0.198  (slightly better)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Transition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00200"/>
            <a:ext cx="2834640" cy="5486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627632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Regime 3  —  τ = 0.10–0.20
(★ Sweet Spot)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148840"/>
            <a:ext cx="2834640" cy="338328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194560"/>
            <a:ext cx="265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• vol_active = ON consistently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Compression acts as regulariser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Train NMSE rises — quality traded off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val_NMSE = 0.191 → 0.182  (BEST)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τ=0.20: optimal balance found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00200"/>
            <a:ext cx="2834640" cy="54864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627632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Regime 4  —  τ ≥ 0.30
(Over-compression)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148840"/>
            <a:ext cx="2834640" cy="338328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194560"/>
            <a:ext cx="265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• Very strong volume pressure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Aggressive pruning: 43→14 active dims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Important dims may be removed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val_NMSE = 0.239 → 0.317  (worsens!)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τ &gt; 0.20 not meaningful for this 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6928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715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9E2AF"/>
                </a:solidFill>
              </a:rPr>
              <a:t>Answer to research question: τ* = 0.20 is the sweet spot — above it, over-compression degrades val_NMSE significantly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The Train / Val NMSE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A fundamental generalisation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4552" cy="594360"/>
          </a:xfrm>
          <a:prstGeom prst="rect">
            <a:avLst/>
          </a:prstGeom>
          <a:solidFill>
            <a:srgbClr val="3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8BA8"/>
                </a:solidFill>
              </a:rPr>
              <a:t>Best result:  Train NMSE = 0.088   →   Val NMSE = 0.182   (2× gap)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</a:rPr>
              <a:t>Why does this gap exist?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• The latent space (100 dims) is still very large relative to training data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With 100 active dims and no pruning, the encoder can memorise training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Validation designs may have different condition distributions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The natural reconstruction floor (NMSE≈0.035) is achieved by overfitting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6E3A1"/>
                </a:solidFill>
              </a:rPr>
              <a:t>Why compression helps (τ≥0.10)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• Volume loss forces the encoder into a bottleneck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Bottleneck prevents memorisation → forces generalisation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Fewer active dims = simpler representation = less overfitting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But even τ=0.20 only pruned 3 dims — not enough compression yet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53212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9E2AF"/>
                </a:solidFill>
              </a:rPr>
              <a:t>The gap is NOT caused by the threshold choice — it reflects the model's capacity vs dataset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Why Is Pruning So Minimal?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97–100 active dims — almost nothing pruned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</a:rPr>
              <a:t>How Plummet Pruning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• Sort latent dimensions by their std (descending)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Look for a sudden 'plummet' — a sharp drop in std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Dimensions beyond the plummet are pruned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Works well when: a few dims have high std, many have near-zero std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8BA8"/>
                </a:solidFill>
              </a:rPr>
              <a:t>What We 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38BA8"/>
                </a:solidFill>
              </a:rPr>
              <a:t>• Latent std distribution is very FLAT (0.015–0.07 across all 100 dims)</a:t>
            </a:r>
          </a:p>
          <a:p>
            <a:pPr algn="l"/>
            <a:r>
              <a:rPr sz="1400">
                <a:solidFill>
                  <a:srgbClr val="F38BA8"/>
                </a:solidFill>
              </a:rPr>
              <a:t>• No clear 'elbow' or 'plummet' — dims look equally important</a:t>
            </a:r>
          </a:p>
          <a:p>
            <a:pPr algn="l"/>
            <a:r>
              <a:rPr sz="1400">
                <a:solidFill>
                  <a:srgbClr val="F38BA8"/>
                </a:solidFill>
              </a:rPr>
              <a:t>• Plummet strategy finds nothing to prune</a:t>
            </a:r>
          </a:p>
          <a:p>
            <a:pPr algn="l"/>
            <a:r>
              <a:rPr sz="1400">
                <a:solidFill>
                  <a:srgbClr val="F38BA8"/>
                </a:solidFill>
              </a:rPr>
              <a:t>• Only 3 dims removed at τ=0.20 (and only after 1000+ epochs)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6E3A1"/>
                </a:solidFill>
              </a:rPr>
              <a:t>Possible Explanations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• Training still too short — std needs more epochs to separate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The thermoelastic2d dataset genuinely needs many latent dims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Volume pressure (τ=0.20) is not strong enough yet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Pruning threshold (0.05) too conservative — misses small drops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Network architecture may be underconstrained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53212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9E2AF"/>
                </a:solidFill>
              </a:rPr>
              <a:t>Key insight: plummet pruning requires a structured latent space — more training or stronger compression pressure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What to do based on these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Fix τ = 0.20 and study 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• Run multiple seeds (1, 2, 3) to confirm τ*=0.20 is robust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Check if val_NMSE=0.182 is stable across seeds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Variance across seeds informs confidence in the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02920" cy="502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Investigate the train/val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031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• Best result: train NMSE=0.088 vs val NMSE=0.182 (2× gap)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Check if validation set has different condition distribution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Consider conditioning on problem parameters (weight, BC)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31920"/>
            <a:ext cx="502920" cy="50292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8BA8"/>
                </a:solidFill>
              </a:rPr>
              <a:t>Explore τ in [0.15, 0.25] finely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• τ* may be between 0.10 and 0.20 — current grid is coarse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Test τ ∈ {0.12, 0.15, 0.18, 0.20, 0.22, 0.25}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Goal: find the exact inflection point more precisely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02920" cy="5029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977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Compare with other model variants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891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• Run same sweep on plvae, sn_enc, val_pruning variants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Does τ* = 0.20 hold across architectures?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• Use τ=0.20 as default for all future experiments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4552" cy="27432"/>
          </a:xfrm>
          <a:prstGeom prst="rect">
            <a:avLst/>
          </a:prstGeom>
          <a:solidFill>
            <a:srgbClr val="CC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9B4FA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0DE"/>
                </a:solidFill>
              </a:rPr>
              <a:t>Constrained LVAE — NMSE Threshold Sweep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55648"/>
            <a:ext cx="128016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739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773936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Constrained LVAE uses τ to define a quality budget — compression activates only when reconstruction is good enough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280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Finding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39572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τ ≤ 0.03 unreachable — reconstruction floor ≈ 0.035 — no volume pressure, severe overfitting, val_NMSE ≈ 0.211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128016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Finding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0175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τ = 0.10–0.20: volume pressure activates, compression regularises, best val_NMSE = 0.182 at τ = 0.20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21024"/>
            <a:ext cx="1280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393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Finding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63931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τ ≥ 0.30: over-compression — pruning too aggressive (43→14 dims), val_NMSE worsens to 0.239–0.317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42816"/>
            <a:ext cx="128016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6110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Finding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261104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★  τ* = 0.20 is the sweet spot — balanced compression, best generalisation, 97/100 dims active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64608"/>
            <a:ext cx="128016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8289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882896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Investigate the persistent 2× train/val gap and study whether τ* shifts with more training data or seeds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E2AF"/>
                </a:solidFill>
              </a:rPr>
              <a:t>τ* = 0.20 confirmed across both sweeps — the sweet spot between under- and over-compression for thermoelastic2d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