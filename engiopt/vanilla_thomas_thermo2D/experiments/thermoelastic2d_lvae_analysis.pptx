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914400" y="1645920"/>
            <a:ext cx="10332720" cy="1280160"/>
          </a:xfrm>
          <a:prstGeom prst="rect">
            <a:avLst/>
          </a:prstGeom>
          <a:noFill/>
        </p:spPr>
        <p:txBody>
          <a:bodyPr wrap="square">
            <a:spAutoFit/>
          </a:bodyPr>
          <a:lstStyle/>
          <a:p>
            <a:pPr algn="ctr"/>
            <a:r>
              <a:rPr sz="3600" b="1" i="0">
                <a:solidFill>
                  <a:srgbClr val="1A1A2E"/>
                </a:solidFill>
              </a:rPr>
              <a:t>Vanilla LVAE on Thermoelastic 2D</a:t>
            </a:r>
          </a:p>
        </p:txBody>
      </p:sp>
      <p:sp>
        <p:nvSpPr>
          <p:cNvPr id="3" name="TextBox 2"/>
          <p:cNvSpPr txBox="1"/>
          <p:nvPr/>
        </p:nvSpPr>
        <p:spPr>
          <a:xfrm>
            <a:off x="914400" y="3017520"/>
            <a:ext cx="10332720" cy="640080"/>
          </a:xfrm>
          <a:prstGeom prst="rect">
            <a:avLst/>
          </a:prstGeom>
          <a:noFill/>
        </p:spPr>
        <p:txBody>
          <a:bodyPr wrap="square">
            <a:spAutoFit/>
          </a:bodyPr>
          <a:lstStyle/>
          <a:p>
            <a:pPr algn="ctr"/>
            <a:r>
              <a:rPr sz="2000" b="0" i="0">
                <a:solidFill>
                  <a:srgbClr val="55657A"/>
                </a:solidFill>
              </a:rPr>
              <a:t>Ablation study: Baseline BN  →  GN encoder  →  GN + Latent Noise</a:t>
            </a:r>
          </a:p>
        </p:txBody>
      </p:sp>
      <p:sp>
        <p:nvSpPr>
          <p:cNvPr id="4" name="TextBox 3"/>
          <p:cNvSpPr txBox="1"/>
          <p:nvPr/>
        </p:nvSpPr>
        <p:spPr>
          <a:xfrm>
            <a:off x="914400" y="3749039"/>
            <a:ext cx="10332720" cy="457200"/>
          </a:xfrm>
          <a:prstGeom prst="rect">
            <a:avLst/>
          </a:prstGeom>
          <a:noFill/>
        </p:spPr>
        <p:txBody>
          <a:bodyPr wrap="square">
            <a:spAutoFit/>
          </a:bodyPr>
          <a:lstStyle/>
          <a:p>
            <a:pPr algn="ctr"/>
            <a:r>
              <a:rPr sz="1600" b="0" i="1">
                <a:solidFill>
                  <a:srgbClr val="55657A"/>
                </a:solidFill>
              </a:rPr>
              <a:t>What changed, why it matters, and what the numbers say</a:t>
            </a:r>
          </a:p>
        </p:txBody>
      </p:sp>
      <p:sp>
        <p:nvSpPr>
          <p:cNvPr id="5" name="Rectangle 4"/>
          <p:cNvSpPr/>
          <p:nvPr/>
        </p:nvSpPr>
        <p:spPr>
          <a:xfrm>
            <a:off x="0" y="6309360"/>
            <a:ext cx="12188952" cy="5486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6355080"/>
            <a:ext cx="5486400" cy="457200"/>
          </a:xfrm>
          <a:prstGeom prst="rect">
            <a:avLst/>
          </a:prstGeom>
          <a:noFill/>
        </p:spPr>
        <p:txBody>
          <a:bodyPr wrap="square">
            <a:spAutoFit/>
          </a:bodyPr>
          <a:lstStyle/>
          <a:p>
            <a:pPr algn="l"/>
            <a:r>
              <a:rPr sz="1300" b="0" i="0">
                <a:solidFill>
                  <a:srgbClr val="FFFFFF"/>
                </a:solidFill>
              </a:rPr>
              <a:t>EngiOpt  ·  ETH Zürich  ·  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800" b="1">
                <a:solidFill>
                  <a:srgbClr val="FFFFFF"/>
                </a:solidFill>
              </a:rPr>
              <a:t>Three Runs at a Glance</a:t>
            </a:r>
          </a:p>
          <a:p>
            <a:pPr algn="l"/>
            <a:r>
              <a:rPr sz="1400">
                <a:solidFill>
                  <a:srgbClr val="CCDDFF"/>
                </a:solidFill>
              </a:rPr>
              <a:t>Vanilla LVAE  ·  thermoelastic2D  ·  seed 1  ·  latent_dim = 100</a:t>
            </a:r>
          </a:p>
        </p:txBody>
      </p:sp>
      <p:graphicFrame>
        <p:nvGraphicFramePr>
          <p:cNvPr id="3" name="Table 2"/>
          <p:cNvGraphicFramePr>
            <a:graphicFrameLocks noGrp="1"/>
          </p:cNvGraphicFramePr>
          <p:nvPr/>
        </p:nvGraphicFramePr>
        <p:xfrm>
          <a:off x="228600" y="1188720"/>
          <a:ext cx="11430000" cy="5440677"/>
        </p:xfrm>
        <a:graphic>
          <a:graphicData uri="http://schemas.openxmlformats.org/drawingml/2006/table">
            <a:tbl>
              <a:tblPr firstRow="1" bandRow="1">
                <a:tableStyleId>{5C22544A-7EE6-4342-B048-85BDC9FD1C3A}</a:tableStyleId>
              </a:tblPr>
              <a:tblGrid>
                <a:gridCol w="2560320"/>
                <a:gridCol w="2743200"/>
                <a:gridCol w="2743200"/>
                <a:gridCol w="3383280"/>
              </a:tblGrid>
              <a:tr h="494607">
                <a:tc>
                  <a:txBody>
                    <a:bodyPr wrap="square"/>
                    <a:lstStyle/>
                    <a:p>
                      <a:pPr algn="ctr"/>
                      <a:r>
                        <a:rPr sz="1300" b="1">
                          <a:solidFill>
                            <a:srgbClr val="FFFFFF"/>
                          </a:solidFill>
                        </a:rPr>
                        <a:t/>
                      </a:r>
                    </a:p>
                  </a:txBody>
                  <a:tcPr>
                    <a:solidFill>
                      <a:srgbClr val="1F6FEB"/>
                    </a:solidFill>
                  </a:tcPr>
                </a:tc>
                <a:tc>
                  <a:txBody>
                    <a:bodyPr wrap="square"/>
                    <a:lstStyle/>
                    <a:p>
                      <a:pPr algn="ctr"/>
                      <a:r>
                        <a:rPr sz="1300" b="1">
                          <a:solidFill>
                            <a:srgbClr val="FFFFFF"/>
                          </a:solidFill>
                        </a:rPr>
                        <a:t>Baseline BN</a:t>
                      </a:r>
                    </a:p>
                  </a:txBody>
                  <a:tcPr>
                    <a:solidFill>
                      <a:srgbClr val="1F6FEB"/>
                    </a:solidFill>
                  </a:tcPr>
                </a:tc>
                <a:tc>
                  <a:txBody>
                    <a:bodyPr wrap="square"/>
                    <a:lstStyle/>
                    <a:p>
                      <a:pPr algn="ctr"/>
                      <a:r>
                        <a:rPr sz="1300" b="1">
                          <a:solidFill>
                            <a:srgbClr val="FFFFFF"/>
                          </a:solidFill>
                        </a:rPr>
                        <a:t>GN encoder
(no noise)</a:t>
                      </a:r>
                    </a:p>
                  </a:txBody>
                  <a:tcPr>
                    <a:solidFill>
                      <a:srgbClr val="1F6FEB"/>
                    </a:solidFill>
                  </a:tcPr>
                </a:tc>
                <a:tc>
                  <a:txBody>
                    <a:bodyPr wrap="square"/>
                    <a:lstStyle/>
                    <a:p>
                      <a:pPr algn="ctr"/>
                      <a:r>
                        <a:rPr sz="1300" b="1">
                          <a:solidFill>
                            <a:srgbClr val="FFFFFF"/>
                          </a:solidFill>
                        </a:rPr>
                        <a:t>GN + Latent Noise
(σ = 0.1)</a:t>
                      </a:r>
                    </a:p>
                  </a:txBody>
                  <a:tcPr>
                    <a:solidFill>
                      <a:srgbClr val="1F6FEB"/>
                    </a:solidFill>
                  </a:tcPr>
                </a:tc>
              </a:tr>
              <a:tr h="494607">
                <a:tc>
                  <a:txBody>
                    <a:bodyPr wrap="square"/>
                    <a:lstStyle/>
                    <a:p>
                      <a:pPr algn="l"/>
                      <a:r>
                        <a:rPr sz="1200" b="0">
                          <a:solidFill>
                            <a:srgbClr val="1A1A2E"/>
                          </a:solidFill>
                        </a:rPr>
                        <a:t>Encoder</a:t>
                      </a:r>
                    </a:p>
                  </a:txBody>
                  <a:tcPr>
                    <a:solidFill>
                      <a:srgbClr val="F2F4F7"/>
                    </a:solidFill>
                  </a:tcPr>
                </a:tc>
                <a:tc>
                  <a:txBody>
                    <a:bodyPr wrap="square"/>
                    <a:lstStyle/>
                    <a:p>
                      <a:pPr algn="ctr"/>
                      <a:r>
                        <a:rPr sz="1200" b="0">
                          <a:solidFill>
                            <a:srgbClr val="1A1A2E"/>
                          </a:solidFill>
                        </a:rPr>
                        <a:t>BatchNorm</a:t>
                      </a:r>
                    </a:p>
                  </a:txBody>
                  <a:tcPr>
                    <a:solidFill>
                      <a:srgbClr val="F2F4F7"/>
                    </a:solidFill>
                  </a:tcPr>
                </a:tc>
                <a:tc>
                  <a:txBody>
                    <a:bodyPr wrap="square"/>
                    <a:lstStyle/>
                    <a:p>
                      <a:pPr algn="ctr"/>
                      <a:r>
                        <a:rPr sz="1200" b="0">
                          <a:solidFill>
                            <a:srgbClr val="1A1A2E"/>
                          </a:solidFill>
                        </a:rPr>
                        <a:t>GroupNorm (8g)
+ Spectral Norm</a:t>
                      </a:r>
                    </a:p>
                  </a:txBody>
                  <a:tcPr>
                    <a:solidFill>
                      <a:srgbClr val="F2F4F7"/>
                    </a:solidFill>
                  </a:tcPr>
                </a:tc>
                <a:tc>
                  <a:txBody>
                    <a:bodyPr wrap="square"/>
                    <a:lstStyle/>
                    <a:p>
                      <a:pPr algn="ctr"/>
                      <a:r>
                        <a:rPr sz="1200" b="0">
                          <a:solidFill>
                            <a:srgbClr val="1A1A2E"/>
                          </a:solidFill>
                        </a:rPr>
                        <a:t>GroupNorm (8g)
+ Spectral Norm</a:t>
                      </a:r>
                    </a:p>
                  </a:txBody>
                  <a:tcPr>
                    <a:solidFill>
                      <a:srgbClr val="F2F4F7"/>
                    </a:solidFill>
                  </a:tcPr>
                </a:tc>
              </a:tr>
              <a:tr h="494607">
                <a:tc>
                  <a:txBody>
                    <a:bodyPr wrap="square"/>
                    <a:lstStyle/>
                    <a:p>
                      <a:pPr algn="l"/>
                      <a:r>
                        <a:rPr sz="1200" b="0">
                          <a:solidFill>
                            <a:srgbClr val="1A1A2E"/>
                          </a:solidFill>
                        </a:rPr>
                        <a:t>Latent noise σ</a:t>
                      </a:r>
                    </a:p>
                  </a:txBody>
                  <a:tcPr>
                    <a:solidFill>
                      <a:srgbClr val="FFFFFF"/>
                    </a:solidFill>
                  </a:tcPr>
                </a:tc>
                <a:tc>
                  <a:txBody>
                    <a:bodyPr wrap="square"/>
                    <a:lstStyle/>
                    <a:p>
                      <a:pPr algn="ctr"/>
                      <a:r>
                        <a:rPr sz="1200" b="0">
                          <a:solidFill>
                            <a:srgbClr val="1A1A2E"/>
                          </a:solidFill>
                        </a:rPr>
                        <a:t>—</a:t>
                      </a:r>
                    </a:p>
                  </a:txBody>
                  <a:tcPr>
                    <a:solidFill>
                      <a:srgbClr val="FFFFFF"/>
                    </a:solidFill>
                  </a:tcPr>
                </a:tc>
                <a:tc>
                  <a:txBody>
                    <a:bodyPr wrap="square"/>
                    <a:lstStyle/>
                    <a:p>
                      <a:pPr algn="ctr"/>
                      <a:r>
                        <a:rPr sz="1200" b="0">
                          <a:solidFill>
                            <a:srgbClr val="1A1A2E"/>
                          </a:solidFill>
                        </a:rPr>
                        <a:t>—</a:t>
                      </a:r>
                    </a:p>
                  </a:txBody>
                  <a:tcPr>
                    <a:solidFill>
                      <a:srgbClr val="FFFFFF"/>
                    </a:solidFill>
                  </a:tcPr>
                </a:tc>
                <a:tc>
                  <a:txBody>
                    <a:bodyPr wrap="square"/>
                    <a:lstStyle/>
                    <a:p>
                      <a:pPr algn="ctr"/>
                      <a:r>
                        <a:rPr sz="1200" b="0">
                          <a:solidFill>
                            <a:srgbClr val="1A1A2E"/>
                          </a:solidFill>
                        </a:rPr>
                        <a:t>0.1</a:t>
                      </a:r>
                    </a:p>
                  </a:txBody>
                  <a:tcPr>
                    <a:solidFill>
                      <a:srgbClr val="FFFFFF"/>
                    </a:solidFill>
                  </a:tcPr>
                </a:tc>
              </a:tr>
              <a:tr h="494607">
                <a:tc>
                  <a:txBody>
                    <a:bodyPr wrap="square"/>
                    <a:lstStyle/>
                    <a:p>
                      <a:pPr algn="l"/>
                      <a:r>
                        <a:rPr sz="1200" b="0">
                          <a:solidFill>
                            <a:srgbClr val="1A1A2E"/>
                          </a:solidFill>
                        </a:rPr>
                        <a:t>Early stopping</a:t>
                      </a:r>
                    </a:p>
                  </a:txBody>
                  <a:tcPr>
                    <a:solidFill>
                      <a:srgbClr val="F2F4F7"/>
                    </a:solidFill>
                  </a:tcPr>
                </a:tc>
                <a:tc>
                  <a:txBody>
                    <a:bodyPr wrap="square"/>
                    <a:lstStyle/>
                    <a:p>
                      <a:pPr algn="ctr"/>
                      <a:r>
                        <a:rPr sz="1200" b="0">
                          <a:solidFill>
                            <a:srgbClr val="1A1A2E"/>
                          </a:solidFill>
                        </a:rPr>
                        <a:t>patience 10
from ep. 0</a:t>
                      </a:r>
                    </a:p>
                  </a:txBody>
                  <a:tcPr>
                    <a:solidFill>
                      <a:srgbClr val="F2F4F7"/>
                    </a:solidFill>
                  </a:tcPr>
                </a:tc>
                <a:tc>
                  <a:txBody>
                    <a:bodyPr wrap="square"/>
                    <a:lstStyle/>
                    <a:p>
                      <a:pPr algn="ctr"/>
                      <a:r>
                        <a:rPr sz="1200" b="0">
                          <a:solidFill>
                            <a:srgbClr val="1A1A2E"/>
                          </a:solidFill>
                        </a:rPr>
                        <a:t>patience 10
from ep. 0</a:t>
                      </a:r>
                    </a:p>
                  </a:txBody>
                  <a:tcPr>
                    <a:solidFill>
                      <a:srgbClr val="F2F4F7"/>
                    </a:solidFill>
                  </a:tcPr>
                </a:tc>
                <a:tc>
                  <a:txBody>
                    <a:bodyPr wrap="square"/>
                    <a:lstStyle/>
                    <a:p>
                      <a:pPr algn="ctr"/>
                      <a:r>
                        <a:rPr sz="1200" b="0">
                          <a:solidFill>
                            <a:srgbClr val="1A1A2E"/>
                          </a:solidFill>
                        </a:rPr>
                        <a:t>patience 50
from ep. 2000</a:t>
                      </a:r>
                    </a:p>
                  </a:txBody>
                  <a:tcPr>
                    <a:solidFill>
                      <a:srgbClr val="F2F4F7"/>
                    </a:solidFill>
                  </a:tcPr>
                </a:tc>
              </a:tr>
              <a:tr h="494607">
                <a:tc>
                  <a:txBody>
                    <a:bodyPr wrap="square"/>
                    <a:lstStyle/>
                    <a:p>
                      <a:pPr algn="l"/>
                      <a:r>
                        <a:rPr sz="1200" b="0">
                          <a:solidFill>
                            <a:srgbClr val="1A1A2E"/>
                          </a:solidFill>
                        </a:rPr>
                        <a:t>Last epoch</a:t>
                      </a:r>
                    </a:p>
                  </a:txBody>
                  <a:tcPr>
                    <a:solidFill>
                      <a:srgbClr val="FFFFFF"/>
                    </a:solidFill>
                  </a:tcPr>
                </a:tc>
                <a:tc>
                  <a:txBody>
                    <a:bodyPr wrap="square"/>
                    <a:lstStyle/>
                    <a:p>
                      <a:pPr algn="ctr"/>
                      <a:r>
                        <a:rPr sz="1200" b="0">
                          <a:solidFill>
                            <a:srgbClr val="1A1A2E"/>
                          </a:solidFill>
                        </a:rPr>
                        <a:t>9 999  (full)</a:t>
                      </a:r>
                    </a:p>
                  </a:txBody>
                  <a:tcPr>
                    <a:solidFill>
                      <a:srgbClr val="FFFFFF"/>
                    </a:solidFill>
                  </a:tcPr>
                </a:tc>
                <a:tc>
                  <a:txBody>
                    <a:bodyPr wrap="square"/>
                    <a:lstStyle/>
                    <a:p>
                      <a:pPr algn="ctr"/>
                      <a:r>
                        <a:rPr sz="1200" b="0">
                          <a:solidFill>
                            <a:srgbClr val="1A1A2E"/>
                          </a:solidFill>
                        </a:rPr>
                        <a:t>57  ⚠ premature</a:t>
                      </a:r>
                    </a:p>
                  </a:txBody>
                  <a:tcPr>
                    <a:solidFill>
                      <a:srgbClr val="FFFFFF"/>
                    </a:solidFill>
                  </a:tcPr>
                </a:tc>
                <a:tc>
                  <a:txBody>
                    <a:bodyPr wrap="square"/>
                    <a:lstStyle/>
                    <a:p>
                      <a:pPr algn="ctr"/>
                      <a:r>
                        <a:rPr sz="1200" b="0">
                          <a:solidFill>
                            <a:srgbClr val="1A1A2E"/>
                          </a:solidFill>
                        </a:rPr>
                        <a:t>1 033  (running)</a:t>
                      </a:r>
                    </a:p>
                  </a:txBody>
                  <a:tcPr>
                    <a:solidFill>
                      <a:srgbClr val="FFFFFF"/>
                    </a:solidFill>
                  </a:tcPr>
                </a:tc>
              </a:tr>
              <a:tr h="494607">
                <a:tc>
                  <a:txBody>
                    <a:bodyPr wrap="square"/>
                    <a:lstStyle/>
                    <a:p>
                      <a:pPr algn="l"/>
                      <a:r>
                        <a:rPr sz="1200" b="0">
                          <a:solidFill>
                            <a:srgbClr val="1A1A2E"/>
                          </a:solidFill>
                        </a:rPr>
                        <a:t>Train rec</a:t>
                      </a:r>
                    </a:p>
                  </a:txBody>
                  <a:tcPr>
                    <a:solidFill>
                      <a:srgbClr val="F2F4F7"/>
                    </a:solidFill>
                  </a:tcPr>
                </a:tc>
                <a:tc>
                  <a:txBody>
                    <a:bodyPr wrap="square"/>
                    <a:lstStyle/>
                    <a:p>
                      <a:pPr algn="ctr"/>
                      <a:r>
                        <a:rPr sz="1200" b="0">
                          <a:solidFill>
                            <a:srgbClr val="1A1A2E"/>
                          </a:solidFill>
                        </a:rPr>
                        <a:t>0.000410</a:t>
                      </a:r>
                    </a:p>
                  </a:txBody>
                  <a:tcPr>
                    <a:solidFill>
                      <a:srgbClr val="F2F4F7"/>
                    </a:solidFill>
                  </a:tcPr>
                </a:tc>
                <a:tc>
                  <a:txBody>
                    <a:bodyPr wrap="square"/>
                    <a:lstStyle/>
                    <a:p>
                      <a:pPr algn="ctr"/>
                      <a:r>
                        <a:rPr sz="1200" b="0">
                          <a:solidFill>
                            <a:srgbClr val="1A1A2E"/>
                          </a:solidFill>
                        </a:rPr>
                        <a:t>0.02939</a:t>
                      </a:r>
                    </a:p>
                  </a:txBody>
                  <a:tcPr>
                    <a:solidFill>
                      <a:srgbClr val="F2F4F7"/>
                    </a:solidFill>
                  </a:tcPr>
                </a:tc>
                <a:tc>
                  <a:txBody>
                    <a:bodyPr wrap="square"/>
                    <a:lstStyle/>
                    <a:p>
                      <a:pPr algn="ctr"/>
                      <a:r>
                        <a:rPr sz="1200" b="0">
                          <a:solidFill>
                            <a:srgbClr val="0A7D57"/>
                          </a:solidFill>
                        </a:rPr>
                        <a:t>0.008553</a:t>
                      </a:r>
                    </a:p>
                  </a:txBody>
                  <a:tcPr>
                    <a:solidFill>
                      <a:srgbClr val="F2F4F7"/>
                    </a:solidFill>
                  </a:tcPr>
                </a:tc>
              </a:tr>
              <a:tr h="494607">
                <a:tc>
                  <a:txBody>
                    <a:bodyPr wrap="square"/>
                    <a:lstStyle/>
                    <a:p>
                      <a:pPr algn="l"/>
                      <a:r>
                        <a:rPr sz="1200" b="0">
                          <a:solidFill>
                            <a:srgbClr val="1A1A2E"/>
                          </a:solidFill>
                        </a:rPr>
                        <a:t>Val rec</a:t>
                      </a:r>
                    </a:p>
                  </a:txBody>
                  <a:tcPr>
                    <a:solidFill>
                      <a:srgbClr val="FFFFFF"/>
                    </a:solidFill>
                  </a:tcPr>
                </a:tc>
                <a:tc>
                  <a:txBody>
                    <a:bodyPr wrap="square"/>
                    <a:lstStyle/>
                    <a:p>
                      <a:pPr algn="ctr"/>
                      <a:r>
                        <a:rPr sz="1200" b="0">
                          <a:solidFill>
                            <a:srgbClr val="C0392B"/>
                          </a:solidFill>
                        </a:rPr>
                        <a:t>0.03309</a:t>
                      </a:r>
                    </a:p>
                  </a:txBody>
                  <a:tcPr>
                    <a:solidFill>
                      <a:srgbClr val="FFFFFF"/>
                    </a:solidFill>
                  </a:tcPr>
                </a:tc>
                <a:tc>
                  <a:txBody>
                    <a:bodyPr wrap="square"/>
                    <a:lstStyle/>
                    <a:p>
                      <a:pPr algn="ctr"/>
                      <a:r>
                        <a:rPr sz="1200" b="0">
                          <a:solidFill>
                            <a:srgbClr val="E87D14"/>
                          </a:solidFill>
                        </a:rPr>
                        <a:t>0.03246</a:t>
                      </a:r>
                    </a:p>
                  </a:txBody>
                  <a:tcPr>
                    <a:solidFill>
                      <a:srgbClr val="FFFFFF"/>
                    </a:solidFill>
                  </a:tcPr>
                </a:tc>
                <a:tc>
                  <a:txBody>
                    <a:bodyPr wrap="square"/>
                    <a:lstStyle/>
                    <a:p>
                      <a:pPr algn="ctr"/>
                      <a:r>
                        <a:rPr sz="1200" b="0">
                          <a:solidFill>
                            <a:srgbClr val="1A1A2E"/>
                          </a:solidFill>
                        </a:rPr>
                        <a:t>0.03121  ✓</a:t>
                      </a:r>
                    </a:p>
                  </a:txBody>
                  <a:tcPr>
                    <a:solidFill>
                      <a:srgbClr val="FFFFFF"/>
                    </a:solidFill>
                  </a:tcPr>
                </a:tc>
              </a:tr>
              <a:tr h="494607">
                <a:tc>
                  <a:txBody>
                    <a:bodyPr wrap="square"/>
                    <a:lstStyle/>
                    <a:p>
                      <a:pPr algn="l"/>
                      <a:r>
                        <a:rPr sz="1200" b="0">
                          <a:solidFill>
                            <a:srgbClr val="1A1A2E"/>
                          </a:solidFill>
                        </a:rPr>
                        <a:t>Gap  (val/train)</a:t>
                      </a:r>
                    </a:p>
                  </a:txBody>
                  <a:tcPr>
                    <a:solidFill>
                      <a:srgbClr val="F2F4F7"/>
                    </a:solidFill>
                  </a:tcPr>
                </a:tc>
                <a:tc>
                  <a:txBody>
                    <a:bodyPr wrap="square"/>
                    <a:lstStyle/>
                    <a:p>
                      <a:pPr algn="ctr"/>
                      <a:r>
                        <a:rPr sz="1200" b="0">
                          <a:solidFill>
                            <a:srgbClr val="1A1A2E"/>
                          </a:solidFill>
                        </a:rPr>
                        <a:t>80×  ✗</a:t>
                      </a:r>
                    </a:p>
                  </a:txBody>
                  <a:tcPr>
                    <a:solidFill>
                      <a:srgbClr val="F2F4F7"/>
                    </a:solidFill>
                  </a:tcPr>
                </a:tc>
                <a:tc>
                  <a:txBody>
                    <a:bodyPr wrap="square"/>
                    <a:lstStyle/>
                    <a:p>
                      <a:pPr algn="ctr"/>
                      <a:r>
                        <a:rPr sz="1200" b="0">
                          <a:solidFill>
                            <a:srgbClr val="1A1A2E"/>
                          </a:solidFill>
                        </a:rPr>
                        <a:t>1.10×  ⚠*</a:t>
                      </a:r>
                    </a:p>
                  </a:txBody>
                  <a:tcPr>
                    <a:solidFill>
                      <a:srgbClr val="F2F4F7"/>
                    </a:solidFill>
                  </a:tcPr>
                </a:tc>
                <a:tc>
                  <a:txBody>
                    <a:bodyPr wrap="square"/>
                    <a:lstStyle/>
                    <a:p>
                      <a:pPr algn="ctr"/>
                      <a:r>
                        <a:rPr sz="1200" b="0">
                          <a:solidFill>
                            <a:srgbClr val="1A1A2E"/>
                          </a:solidFill>
                        </a:rPr>
                        <a:t>3.65×</a:t>
                      </a:r>
                    </a:p>
                  </a:txBody>
                  <a:tcPr>
                    <a:solidFill>
                      <a:srgbClr val="F2F4F7"/>
                    </a:solidFill>
                  </a:tcPr>
                </a:tc>
              </a:tr>
              <a:tr h="494607">
                <a:tc>
                  <a:txBody>
                    <a:bodyPr wrap="square"/>
                    <a:lstStyle/>
                    <a:p>
                      <a:pPr algn="l"/>
                      <a:r>
                        <a:rPr sz="1200" b="0">
                          <a:solidFill>
                            <a:srgbClr val="1A1A2E"/>
                          </a:solidFill>
                        </a:rPr>
                        <a:t>Active dims</a:t>
                      </a:r>
                    </a:p>
                  </a:txBody>
                  <a:tcPr>
                    <a:solidFill>
                      <a:srgbClr val="FFFFFF"/>
                    </a:solidFill>
                  </a:tcPr>
                </a:tc>
                <a:tc>
                  <a:txBody>
                    <a:bodyPr wrap="square"/>
                    <a:lstStyle/>
                    <a:p>
                      <a:pPr algn="ctr"/>
                      <a:r>
                        <a:rPr sz="1200" b="0">
                          <a:solidFill>
                            <a:srgbClr val="1A1A2E"/>
                          </a:solidFill>
                        </a:rPr>
                        <a:t>65 / 100</a:t>
                      </a:r>
                    </a:p>
                  </a:txBody>
                  <a:tcPr>
                    <a:solidFill>
                      <a:srgbClr val="FFFFFF"/>
                    </a:solidFill>
                  </a:tcPr>
                </a:tc>
                <a:tc>
                  <a:txBody>
                    <a:bodyPr wrap="square"/>
                    <a:lstStyle/>
                    <a:p>
                      <a:pPr algn="ctr"/>
                      <a:r>
                        <a:rPr sz="1200" b="0">
                          <a:solidFill>
                            <a:srgbClr val="1A1A2E"/>
                          </a:solidFill>
                        </a:rPr>
                        <a:t>100 / 100</a:t>
                      </a:r>
                    </a:p>
                  </a:txBody>
                  <a:tcPr>
                    <a:solidFill>
                      <a:srgbClr val="FFFFFF"/>
                    </a:solidFill>
                  </a:tcPr>
                </a:tc>
                <a:tc>
                  <a:txBody>
                    <a:bodyPr wrap="square"/>
                    <a:lstStyle/>
                    <a:p>
                      <a:pPr algn="ctr"/>
                      <a:r>
                        <a:rPr sz="1200" b="0">
                          <a:solidFill>
                            <a:srgbClr val="1A1A2E"/>
                          </a:solidFill>
                        </a:rPr>
                        <a:t>69 / 100</a:t>
                      </a:r>
                    </a:p>
                  </a:txBody>
                  <a:tcPr>
                    <a:solidFill>
                      <a:srgbClr val="FFFFFF"/>
                    </a:solidFill>
                  </a:tcPr>
                </a:tc>
              </a:tr>
              <a:tr h="494607">
                <a:tc>
                  <a:txBody>
                    <a:bodyPr wrap="square"/>
                    <a:lstStyle/>
                    <a:p>
                      <a:pPr algn="l"/>
                      <a:r>
                        <a:rPr sz="1200" b="0">
                          <a:solidFill>
                            <a:srgbClr val="1A1A2E"/>
                          </a:solidFill>
                        </a:rPr>
                        <a:t>Vol active?</a:t>
                      </a:r>
                    </a:p>
                  </a:txBody>
                  <a:tcPr>
                    <a:solidFill>
                      <a:srgbClr val="F2F4F7"/>
                    </a:solidFill>
                  </a:tcPr>
                </a:tc>
                <a:tc>
                  <a:txBody>
                    <a:bodyPr wrap="square"/>
                    <a:lstStyle/>
                    <a:p>
                      <a:pPr algn="ctr"/>
                      <a:r>
                        <a:rPr sz="1200" b="0">
                          <a:solidFill>
                            <a:srgbClr val="0A7D57"/>
                          </a:solidFill>
                        </a:rPr>
                        <a:t>Yes (late)</a:t>
                      </a:r>
                    </a:p>
                  </a:txBody>
                  <a:tcPr>
                    <a:solidFill>
                      <a:srgbClr val="F2F4F7"/>
                    </a:solidFill>
                  </a:tcPr>
                </a:tc>
                <a:tc>
                  <a:txBody>
                    <a:bodyPr wrap="square"/>
                    <a:lstStyle/>
                    <a:p>
                      <a:pPr algn="ctr"/>
                      <a:r>
                        <a:rPr sz="1200" b="0">
                          <a:solidFill>
                            <a:srgbClr val="E87D14"/>
                          </a:solidFill>
                        </a:rPr>
                        <a:t>No</a:t>
                      </a:r>
                    </a:p>
                  </a:txBody>
                  <a:tcPr>
                    <a:solidFill>
                      <a:srgbClr val="F2F4F7"/>
                    </a:solidFill>
                  </a:tcPr>
                </a:tc>
                <a:tc>
                  <a:txBody>
                    <a:bodyPr wrap="square"/>
                    <a:lstStyle/>
                    <a:p>
                      <a:pPr algn="ctr"/>
                      <a:r>
                        <a:rPr sz="1200" b="0">
                          <a:solidFill>
                            <a:srgbClr val="E87D14"/>
                          </a:solidFill>
                        </a:rPr>
                        <a:t>Yes</a:t>
                      </a:r>
                    </a:p>
                  </a:txBody>
                  <a:tcPr>
                    <a:solidFill>
                      <a:srgbClr val="F2F4F7"/>
                    </a:solidFill>
                  </a:tcPr>
                </a:tc>
              </a:tr>
              <a:tr h="494607">
                <a:tc>
                  <a:txBody>
                    <a:bodyPr wrap="square"/>
                    <a:lstStyle/>
                    <a:p>
                      <a:pPr algn="l"/>
                      <a:r>
                        <a:rPr sz="1200" b="0">
                          <a:solidFill>
                            <a:srgbClr val="1A1A2E"/>
                          </a:solidFill>
                        </a:rPr>
                        <a:t>Status</a:t>
                      </a:r>
                    </a:p>
                  </a:txBody>
                  <a:tcPr>
                    <a:solidFill>
                      <a:srgbClr val="FFFFFF"/>
                    </a:solidFill>
                  </a:tcPr>
                </a:tc>
                <a:tc>
                  <a:txBody>
                    <a:bodyPr wrap="square"/>
                    <a:lstStyle/>
                    <a:p>
                      <a:pPr algn="ctr"/>
                      <a:r>
                        <a:rPr sz="1200" b="0">
                          <a:solidFill>
                            <a:srgbClr val="1A1A2E"/>
                          </a:solidFill>
                        </a:rPr>
                        <a:t>Done</a:t>
                      </a:r>
                    </a:p>
                  </a:txBody>
                  <a:tcPr>
                    <a:solidFill>
                      <a:srgbClr val="FFFFFF"/>
                    </a:solidFill>
                  </a:tcPr>
                </a:tc>
                <a:tc>
                  <a:txBody>
                    <a:bodyPr wrap="square"/>
                    <a:lstStyle/>
                    <a:p>
                      <a:pPr algn="ctr"/>
                      <a:r>
                        <a:rPr sz="1200" b="0">
                          <a:solidFill>
                            <a:srgbClr val="1A1A2E"/>
                          </a:solidFill>
                        </a:rPr>
                        <a:t>Stopped early</a:t>
                      </a:r>
                    </a:p>
                  </a:txBody>
                  <a:tcPr>
                    <a:solidFill>
                      <a:srgbClr val="FFFFFF"/>
                    </a:solidFill>
                  </a:tcPr>
                </a:tc>
                <a:tc>
                  <a:txBody>
                    <a:bodyPr wrap="square"/>
                    <a:lstStyle/>
                    <a:p>
                      <a:pPr algn="ctr"/>
                      <a:r>
                        <a:rPr sz="1200" b="0">
                          <a:solidFill>
                            <a:srgbClr val="1A1A2E"/>
                          </a:solidFill>
                        </a:rPr>
                        <a:t>Running</a:t>
                      </a:r>
                    </a:p>
                  </a:txBody>
                  <a:tcPr>
                    <a:solidFill>
                      <a:srgbClr val="FFFFFF"/>
                    </a:solidFill>
                  </a:tcPr>
                </a:tc>
              </a:tr>
            </a:tbl>
          </a:graphicData>
        </a:graphic>
      </p:graphicFrame>
      <p:sp>
        <p:nvSpPr>
          <p:cNvPr id="4" name="TextBox 3"/>
          <p:cNvSpPr txBox="1"/>
          <p:nvPr/>
        </p:nvSpPr>
        <p:spPr>
          <a:xfrm>
            <a:off x="228600" y="6492240"/>
            <a:ext cx="11704320" cy="320040"/>
          </a:xfrm>
          <a:prstGeom prst="rect">
            <a:avLst/>
          </a:prstGeom>
          <a:noFill/>
        </p:spPr>
        <p:txBody>
          <a:bodyPr wrap="square">
            <a:spAutoFit/>
          </a:bodyPr>
          <a:lstStyle/>
          <a:p>
            <a:pPr algn="l"/>
            <a:r>
              <a:rPr sz="1100" b="0" i="1">
                <a:solidFill>
                  <a:srgbClr val="55657A"/>
                </a:solidFill>
              </a:rPr>
              <a:t>* GN encoder gap 1.10× is misleading — both train and val are high because the run stopped at epoch 57 (model had not converged).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800" b="1">
                <a:solidFill>
                  <a:srgbClr val="FFFFFF"/>
                </a:solidFill>
              </a:rPr>
              <a:t>Run 1 — Baseline: BatchNorm Encoder</a:t>
            </a:r>
          </a:p>
          <a:p>
            <a:pPr algn="l"/>
            <a:r>
              <a:rPr sz="1400">
                <a:solidFill>
                  <a:srgbClr val="CCDDFF"/>
                </a:solidFill>
              </a:rPr>
              <a:t>Full training (10 000 epochs)  ·  the overfitting benchmark</a:t>
            </a:r>
          </a:p>
        </p:txBody>
      </p:sp>
      <p:sp>
        <p:nvSpPr>
          <p:cNvPr id="3" name="Rectangle 2"/>
          <p:cNvSpPr/>
          <p:nvPr/>
        </p:nvSpPr>
        <p:spPr>
          <a:xfrm>
            <a:off x="274320" y="1234440"/>
            <a:ext cx="5394960" cy="521208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98448"/>
            <a:ext cx="5212080" cy="320040"/>
          </a:xfrm>
          <a:prstGeom prst="rect">
            <a:avLst/>
          </a:prstGeom>
          <a:noFill/>
        </p:spPr>
        <p:txBody>
          <a:bodyPr wrap="square">
            <a:spAutoFit/>
          </a:bodyPr>
          <a:lstStyle/>
          <a:p>
            <a:pPr algn="l"/>
            <a:r>
              <a:rPr sz="1500" b="1" i="0">
                <a:solidFill>
                  <a:srgbClr val="1F6FEB"/>
                </a:solidFill>
              </a:rPr>
              <a:t>What happened</a:t>
            </a:r>
          </a:p>
        </p:txBody>
      </p:sp>
      <p:sp>
        <p:nvSpPr>
          <p:cNvPr id="5" name="TextBox 4"/>
          <p:cNvSpPr txBox="1"/>
          <p:nvPr/>
        </p:nvSpPr>
        <p:spPr>
          <a:xfrm>
            <a:off x="457200" y="1691640"/>
            <a:ext cx="5212080" cy="4663440"/>
          </a:xfrm>
          <a:prstGeom prst="rect">
            <a:avLst/>
          </a:prstGeom>
          <a:noFill/>
        </p:spPr>
        <p:txBody>
          <a:bodyPr wrap="square">
            <a:spAutoFit/>
          </a:bodyPr>
          <a:lstStyle/>
          <a:p>
            <a:pPr algn="l"/>
            <a:r>
              <a:rPr sz="1400" b="0">
                <a:solidFill>
                  <a:srgbClr val="1A1A2E"/>
                </a:solidFill>
              </a:rPr>
              <a:t>•  The model trained to completion (epoch 9999) and strongly memorised the training set.</a:t>
            </a:r>
          </a:p>
          <a:p>
            <a:pPr algn="l"/>
            <a:r>
              <a:rPr sz="600" b="0">
                <a:solidFill>
                  <a:srgbClr val="1A1A2E"/>
                </a:solidFill>
              </a:rPr>
              <a:t>    </a:t>
            </a:r>
          </a:p>
          <a:p>
            <a:pPr algn="l"/>
            <a:r>
              <a:rPr sz="1400" b="0">
                <a:solidFill>
                  <a:srgbClr val="1A1A2E"/>
                </a:solidFill>
              </a:rPr>
              <a:t>•  Train rec collapsed to 0.000410 — essentially zero reconstruction error on training samples.</a:t>
            </a:r>
          </a:p>
          <a:p>
            <a:pPr algn="l"/>
            <a:r>
              <a:rPr sz="600" b="0">
                <a:solidFill>
                  <a:srgbClr val="1A1A2E"/>
                </a:solidFill>
              </a:rPr>
              <a:t>    </a:t>
            </a:r>
          </a:p>
          <a:p>
            <a:pPr algn="l"/>
            <a:r>
              <a:rPr sz="1400" b="0">
                <a:solidFill>
                  <a:srgbClr val="1A1A2E"/>
                </a:solidFill>
              </a:rPr>
              <a:t>•  Val rec stayed at 0.03309. The model learned to compress training samples perfectly but generalised only weakly.</a:t>
            </a:r>
          </a:p>
          <a:p>
            <a:pPr algn="l"/>
            <a:r>
              <a:rPr sz="600" b="0">
                <a:solidFill>
                  <a:srgbClr val="1A1A2E"/>
                </a:solidFill>
              </a:rPr>
              <a:t>    </a:t>
            </a:r>
          </a:p>
          <a:p>
            <a:pPr algn="l"/>
            <a:r>
              <a:rPr sz="1400" b="0">
                <a:solidFill>
                  <a:srgbClr val="C0392B"/>
                </a:solidFill>
              </a:rPr>
              <a:t>•  Gap of 80× — the most extreme overfitting signal. The encoder memorised, not generalised.</a:t>
            </a:r>
          </a:p>
          <a:p>
            <a:pPr algn="l"/>
            <a:r>
              <a:rPr sz="600" b="0">
                <a:solidFill>
                  <a:srgbClr val="1A1A2E"/>
                </a:solidFill>
              </a:rPr>
              <a:t>    </a:t>
            </a:r>
          </a:p>
          <a:p>
            <a:pPr algn="l"/>
            <a:r>
              <a:rPr sz="1400" b="0">
                <a:solidFill>
                  <a:srgbClr val="1A1A2E"/>
                </a:solidFill>
              </a:rPr>
              <a:t>•  Volume did activate (latent space was compressed to 65/100 dims), but only because train rec was far below threshold.</a:t>
            </a:r>
          </a:p>
          <a:p>
            <a:pPr algn="l"/>
            <a:r>
              <a:rPr sz="600" b="0">
                <a:solidFill>
                  <a:srgbClr val="1A1A2E"/>
                </a:solidFill>
              </a:rPr>
              <a:t>    </a:t>
            </a:r>
          </a:p>
          <a:p>
            <a:pPr algn="l"/>
            <a:r>
              <a:rPr sz="1400" b="0">
                <a:solidFill>
                  <a:srgbClr val="55657A"/>
                </a:solidFill>
              </a:rPr>
              <a:t>•  BatchNorm running statistics computed on training data cause a small distribution shift at eval time, but the dominant effect here is capacity-driven memorisation.</a:t>
            </a:r>
          </a:p>
        </p:txBody>
      </p:sp>
      <p:sp>
        <p:nvSpPr>
          <p:cNvPr id="6" name="Rectangle 5"/>
          <p:cNvSpPr/>
          <p:nvPr/>
        </p:nvSpPr>
        <p:spPr>
          <a:xfrm>
            <a:off x="5852160" y="1234440"/>
            <a:ext cx="6035040" cy="521208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0" y="1298448"/>
            <a:ext cx="5760720" cy="320040"/>
          </a:xfrm>
          <a:prstGeom prst="rect">
            <a:avLst/>
          </a:prstGeom>
          <a:noFill/>
        </p:spPr>
        <p:txBody>
          <a:bodyPr wrap="square">
            <a:spAutoFit/>
          </a:bodyPr>
          <a:lstStyle/>
          <a:p>
            <a:pPr algn="l"/>
            <a:r>
              <a:rPr sz="1500" b="1" i="0">
                <a:solidFill>
                  <a:srgbClr val="1F6FEB"/>
                </a:solidFill>
              </a:rPr>
              <a:t>Key numbers</a:t>
            </a:r>
          </a:p>
        </p:txBody>
      </p:sp>
      <p:sp>
        <p:nvSpPr>
          <p:cNvPr id="8" name="Rectangle 7"/>
          <p:cNvSpPr/>
          <p:nvPr/>
        </p:nvSpPr>
        <p:spPr>
          <a:xfrm>
            <a:off x="6035040" y="1691640"/>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728216"/>
            <a:ext cx="1828800" cy="292608"/>
          </a:xfrm>
          <a:prstGeom prst="rect">
            <a:avLst/>
          </a:prstGeom>
          <a:noFill/>
        </p:spPr>
        <p:txBody>
          <a:bodyPr wrap="square">
            <a:spAutoFit/>
          </a:bodyPr>
          <a:lstStyle/>
          <a:p>
            <a:pPr algn="l"/>
            <a:r>
              <a:rPr sz="1300" b="0" i="0">
                <a:solidFill>
                  <a:srgbClr val="55657A"/>
                </a:solidFill>
              </a:rPr>
              <a:t>Train rec</a:t>
            </a:r>
          </a:p>
        </p:txBody>
      </p:sp>
      <p:sp>
        <p:nvSpPr>
          <p:cNvPr id="10" name="TextBox 9"/>
          <p:cNvSpPr txBox="1"/>
          <p:nvPr/>
        </p:nvSpPr>
        <p:spPr>
          <a:xfrm>
            <a:off x="8046720" y="1728216"/>
            <a:ext cx="1645920" cy="292608"/>
          </a:xfrm>
          <a:prstGeom prst="rect">
            <a:avLst/>
          </a:prstGeom>
          <a:noFill/>
        </p:spPr>
        <p:txBody>
          <a:bodyPr wrap="square">
            <a:spAutoFit/>
          </a:bodyPr>
          <a:lstStyle/>
          <a:p>
            <a:pPr algn="ctr"/>
            <a:r>
              <a:rPr sz="1400" b="1" i="0">
                <a:solidFill>
                  <a:srgbClr val="C0392B"/>
                </a:solidFill>
              </a:rPr>
              <a:t>0.000410</a:t>
            </a:r>
          </a:p>
        </p:txBody>
      </p:sp>
      <p:sp>
        <p:nvSpPr>
          <p:cNvPr id="11" name="TextBox 10"/>
          <p:cNvSpPr txBox="1"/>
          <p:nvPr/>
        </p:nvSpPr>
        <p:spPr>
          <a:xfrm>
            <a:off x="6172200" y="2039112"/>
            <a:ext cx="5486400" cy="256032"/>
          </a:xfrm>
          <a:prstGeom prst="rect">
            <a:avLst/>
          </a:prstGeom>
          <a:noFill/>
        </p:spPr>
        <p:txBody>
          <a:bodyPr wrap="square">
            <a:spAutoFit/>
          </a:bodyPr>
          <a:lstStyle/>
          <a:p>
            <a:pPr algn="l"/>
            <a:r>
              <a:rPr sz="1100" b="0" i="1">
                <a:solidFill>
                  <a:srgbClr val="55657A"/>
                </a:solidFill>
              </a:rPr>
              <a:t>Model memorised training data</a:t>
            </a:r>
          </a:p>
        </p:txBody>
      </p:sp>
      <p:sp>
        <p:nvSpPr>
          <p:cNvPr id="12" name="Rectangle 11"/>
          <p:cNvSpPr/>
          <p:nvPr/>
        </p:nvSpPr>
        <p:spPr>
          <a:xfrm>
            <a:off x="6035040" y="2404872"/>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2441448"/>
            <a:ext cx="1828800" cy="292608"/>
          </a:xfrm>
          <a:prstGeom prst="rect">
            <a:avLst/>
          </a:prstGeom>
          <a:noFill/>
        </p:spPr>
        <p:txBody>
          <a:bodyPr wrap="square">
            <a:spAutoFit/>
          </a:bodyPr>
          <a:lstStyle/>
          <a:p>
            <a:pPr algn="l"/>
            <a:r>
              <a:rPr sz="1300" b="0" i="0">
                <a:solidFill>
                  <a:srgbClr val="55657A"/>
                </a:solidFill>
              </a:rPr>
              <a:t>Val rec</a:t>
            </a:r>
          </a:p>
        </p:txBody>
      </p:sp>
      <p:sp>
        <p:nvSpPr>
          <p:cNvPr id="14" name="TextBox 13"/>
          <p:cNvSpPr txBox="1"/>
          <p:nvPr/>
        </p:nvSpPr>
        <p:spPr>
          <a:xfrm>
            <a:off x="8046720" y="2441448"/>
            <a:ext cx="1645920" cy="292608"/>
          </a:xfrm>
          <a:prstGeom prst="rect">
            <a:avLst/>
          </a:prstGeom>
          <a:noFill/>
        </p:spPr>
        <p:txBody>
          <a:bodyPr wrap="square">
            <a:spAutoFit/>
          </a:bodyPr>
          <a:lstStyle/>
          <a:p>
            <a:pPr algn="ctr"/>
            <a:r>
              <a:rPr sz="1400" b="1" i="0">
                <a:solidFill>
                  <a:srgbClr val="1A1A2E"/>
                </a:solidFill>
              </a:rPr>
              <a:t>0.03309</a:t>
            </a:r>
          </a:p>
        </p:txBody>
      </p:sp>
      <p:sp>
        <p:nvSpPr>
          <p:cNvPr id="15" name="TextBox 14"/>
          <p:cNvSpPr txBox="1"/>
          <p:nvPr/>
        </p:nvSpPr>
        <p:spPr>
          <a:xfrm>
            <a:off x="6172200" y="2752344"/>
            <a:ext cx="5486400" cy="256032"/>
          </a:xfrm>
          <a:prstGeom prst="rect">
            <a:avLst/>
          </a:prstGeom>
          <a:noFill/>
        </p:spPr>
        <p:txBody>
          <a:bodyPr wrap="square">
            <a:spAutoFit/>
          </a:bodyPr>
          <a:lstStyle/>
          <a:p>
            <a:pPr algn="l"/>
            <a:r>
              <a:rPr sz="1100" b="0" i="1">
                <a:solidFill>
                  <a:srgbClr val="55657A"/>
                </a:solidFill>
              </a:rPr>
              <a:t>Generalisation unchanged</a:t>
            </a:r>
          </a:p>
        </p:txBody>
      </p:sp>
      <p:sp>
        <p:nvSpPr>
          <p:cNvPr id="16" name="Rectangle 15"/>
          <p:cNvSpPr/>
          <p:nvPr/>
        </p:nvSpPr>
        <p:spPr>
          <a:xfrm>
            <a:off x="6035040" y="3118104"/>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3154680"/>
            <a:ext cx="1828800" cy="292608"/>
          </a:xfrm>
          <a:prstGeom prst="rect">
            <a:avLst/>
          </a:prstGeom>
          <a:noFill/>
        </p:spPr>
        <p:txBody>
          <a:bodyPr wrap="square">
            <a:spAutoFit/>
          </a:bodyPr>
          <a:lstStyle/>
          <a:p>
            <a:pPr algn="l"/>
            <a:r>
              <a:rPr sz="1300" b="0" i="0">
                <a:solidFill>
                  <a:srgbClr val="55657A"/>
                </a:solidFill>
              </a:rPr>
              <a:t>Gap</a:t>
            </a:r>
          </a:p>
        </p:txBody>
      </p:sp>
      <p:sp>
        <p:nvSpPr>
          <p:cNvPr id="18" name="TextBox 17"/>
          <p:cNvSpPr txBox="1"/>
          <p:nvPr/>
        </p:nvSpPr>
        <p:spPr>
          <a:xfrm>
            <a:off x="8046720" y="3154680"/>
            <a:ext cx="1645920" cy="292608"/>
          </a:xfrm>
          <a:prstGeom prst="rect">
            <a:avLst/>
          </a:prstGeom>
          <a:noFill/>
        </p:spPr>
        <p:txBody>
          <a:bodyPr wrap="square">
            <a:spAutoFit/>
          </a:bodyPr>
          <a:lstStyle/>
          <a:p>
            <a:pPr algn="ctr"/>
            <a:r>
              <a:rPr sz="1400" b="1" i="0">
                <a:solidFill>
                  <a:srgbClr val="C0392B"/>
                </a:solidFill>
              </a:rPr>
              <a:t>80×</a:t>
            </a:r>
          </a:p>
        </p:txBody>
      </p:sp>
      <p:sp>
        <p:nvSpPr>
          <p:cNvPr id="19" name="TextBox 18"/>
          <p:cNvSpPr txBox="1"/>
          <p:nvPr/>
        </p:nvSpPr>
        <p:spPr>
          <a:xfrm>
            <a:off x="6172200" y="3465576"/>
            <a:ext cx="5486400" cy="256032"/>
          </a:xfrm>
          <a:prstGeom prst="rect">
            <a:avLst/>
          </a:prstGeom>
          <a:noFill/>
        </p:spPr>
        <p:txBody>
          <a:bodyPr wrap="square">
            <a:spAutoFit/>
          </a:bodyPr>
          <a:lstStyle/>
          <a:p>
            <a:pPr algn="l"/>
            <a:r>
              <a:rPr sz="1100" b="0" i="1">
                <a:solidFill>
                  <a:srgbClr val="55657A"/>
                </a:solidFill>
              </a:rPr>
              <a:t>Catastrophic overfitting</a:t>
            </a:r>
          </a:p>
        </p:txBody>
      </p:sp>
      <p:sp>
        <p:nvSpPr>
          <p:cNvPr id="20" name="Rectangle 19"/>
          <p:cNvSpPr/>
          <p:nvPr/>
        </p:nvSpPr>
        <p:spPr>
          <a:xfrm>
            <a:off x="6035040" y="3831336"/>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3867912"/>
            <a:ext cx="1828800" cy="292608"/>
          </a:xfrm>
          <a:prstGeom prst="rect">
            <a:avLst/>
          </a:prstGeom>
          <a:noFill/>
        </p:spPr>
        <p:txBody>
          <a:bodyPr wrap="square">
            <a:spAutoFit/>
          </a:bodyPr>
          <a:lstStyle/>
          <a:p>
            <a:pPr algn="l"/>
            <a:r>
              <a:rPr sz="1300" b="0" i="0">
                <a:solidFill>
                  <a:srgbClr val="55657A"/>
                </a:solidFill>
              </a:rPr>
              <a:t>Active dims</a:t>
            </a:r>
          </a:p>
        </p:txBody>
      </p:sp>
      <p:sp>
        <p:nvSpPr>
          <p:cNvPr id="22" name="TextBox 21"/>
          <p:cNvSpPr txBox="1"/>
          <p:nvPr/>
        </p:nvSpPr>
        <p:spPr>
          <a:xfrm>
            <a:off x="8046720" y="3867912"/>
            <a:ext cx="1645920" cy="292608"/>
          </a:xfrm>
          <a:prstGeom prst="rect">
            <a:avLst/>
          </a:prstGeom>
          <a:noFill/>
        </p:spPr>
        <p:txBody>
          <a:bodyPr wrap="square">
            <a:spAutoFit/>
          </a:bodyPr>
          <a:lstStyle/>
          <a:p>
            <a:pPr algn="ctr"/>
            <a:r>
              <a:rPr sz="1400" b="1" i="0">
                <a:solidFill>
                  <a:srgbClr val="1A1A2E"/>
                </a:solidFill>
              </a:rPr>
              <a:t>65 / 100</a:t>
            </a:r>
          </a:p>
        </p:txBody>
      </p:sp>
      <p:sp>
        <p:nvSpPr>
          <p:cNvPr id="23" name="TextBox 22"/>
          <p:cNvSpPr txBox="1"/>
          <p:nvPr/>
        </p:nvSpPr>
        <p:spPr>
          <a:xfrm>
            <a:off x="6172200" y="4178808"/>
            <a:ext cx="5486400" cy="256032"/>
          </a:xfrm>
          <a:prstGeom prst="rect">
            <a:avLst/>
          </a:prstGeom>
          <a:noFill/>
        </p:spPr>
        <p:txBody>
          <a:bodyPr wrap="square">
            <a:spAutoFit/>
          </a:bodyPr>
          <a:lstStyle/>
          <a:p>
            <a:pPr algn="l"/>
            <a:r>
              <a:rPr sz="1100" b="0" i="1">
                <a:solidFill>
                  <a:srgbClr val="55657A"/>
                </a:solidFill>
              </a:rPr>
              <a:t>35 dims pruned by vol pressure</a:t>
            </a:r>
          </a:p>
        </p:txBody>
      </p:sp>
      <p:sp>
        <p:nvSpPr>
          <p:cNvPr id="24" name="Rectangle 23"/>
          <p:cNvSpPr/>
          <p:nvPr/>
        </p:nvSpPr>
        <p:spPr>
          <a:xfrm>
            <a:off x="6035040" y="4544568"/>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4581144"/>
            <a:ext cx="1828800" cy="292608"/>
          </a:xfrm>
          <a:prstGeom prst="rect">
            <a:avLst/>
          </a:prstGeom>
          <a:noFill/>
        </p:spPr>
        <p:txBody>
          <a:bodyPr wrap="square">
            <a:spAutoFit/>
          </a:bodyPr>
          <a:lstStyle/>
          <a:p>
            <a:pPr algn="l"/>
            <a:r>
              <a:rPr sz="1300" b="0" i="0">
                <a:solidFill>
                  <a:srgbClr val="55657A"/>
                </a:solidFill>
              </a:rPr>
              <a:t>Vol active</a:t>
            </a:r>
          </a:p>
        </p:txBody>
      </p:sp>
      <p:sp>
        <p:nvSpPr>
          <p:cNvPr id="26" name="TextBox 25"/>
          <p:cNvSpPr txBox="1"/>
          <p:nvPr/>
        </p:nvSpPr>
        <p:spPr>
          <a:xfrm>
            <a:off x="8046720" y="4581144"/>
            <a:ext cx="1645920" cy="292608"/>
          </a:xfrm>
          <a:prstGeom prst="rect">
            <a:avLst/>
          </a:prstGeom>
          <a:noFill/>
        </p:spPr>
        <p:txBody>
          <a:bodyPr wrap="square">
            <a:spAutoFit/>
          </a:bodyPr>
          <a:lstStyle/>
          <a:p>
            <a:pPr algn="ctr"/>
            <a:r>
              <a:rPr sz="1400" b="1" i="0">
                <a:solidFill>
                  <a:srgbClr val="0A7D57"/>
                </a:solidFill>
              </a:rPr>
              <a:t>Yes</a:t>
            </a:r>
          </a:p>
        </p:txBody>
      </p:sp>
      <p:sp>
        <p:nvSpPr>
          <p:cNvPr id="27" name="TextBox 26"/>
          <p:cNvSpPr txBox="1"/>
          <p:nvPr/>
        </p:nvSpPr>
        <p:spPr>
          <a:xfrm>
            <a:off x="6172200" y="4892040"/>
            <a:ext cx="5486400" cy="256032"/>
          </a:xfrm>
          <a:prstGeom prst="rect">
            <a:avLst/>
          </a:prstGeom>
          <a:noFill/>
        </p:spPr>
        <p:txBody>
          <a:bodyPr wrap="square">
            <a:spAutoFit/>
          </a:bodyPr>
          <a:lstStyle/>
          <a:p>
            <a:pPr algn="l"/>
            <a:r>
              <a:rPr sz="1100" b="0" i="1">
                <a:solidFill>
                  <a:srgbClr val="55657A"/>
                </a:solidFill>
              </a:rPr>
              <a:t>Activated late in training</a:t>
            </a:r>
          </a:p>
        </p:txBody>
      </p:sp>
      <p:sp>
        <p:nvSpPr>
          <p:cNvPr id="28" name="Rectangle 27"/>
          <p:cNvSpPr/>
          <p:nvPr/>
        </p:nvSpPr>
        <p:spPr>
          <a:xfrm>
            <a:off x="6035040" y="5257800"/>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72200" y="5294376"/>
            <a:ext cx="1828800" cy="292608"/>
          </a:xfrm>
          <a:prstGeom prst="rect">
            <a:avLst/>
          </a:prstGeom>
          <a:noFill/>
        </p:spPr>
        <p:txBody>
          <a:bodyPr wrap="square">
            <a:spAutoFit/>
          </a:bodyPr>
          <a:lstStyle/>
          <a:p>
            <a:pPr algn="l"/>
            <a:r>
              <a:rPr sz="1300" b="0" i="0">
                <a:solidFill>
                  <a:srgbClr val="55657A"/>
                </a:solidFill>
              </a:rPr>
              <a:t>Epoch</a:t>
            </a:r>
          </a:p>
        </p:txBody>
      </p:sp>
      <p:sp>
        <p:nvSpPr>
          <p:cNvPr id="30" name="TextBox 29"/>
          <p:cNvSpPr txBox="1"/>
          <p:nvPr/>
        </p:nvSpPr>
        <p:spPr>
          <a:xfrm>
            <a:off x="8046720" y="5294376"/>
            <a:ext cx="1645920" cy="292608"/>
          </a:xfrm>
          <a:prstGeom prst="rect">
            <a:avLst/>
          </a:prstGeom>
          <a:noFill/>
        </p:spPr>
        <p:txBody>
          <a:bodyPr wrap="square">
            <a:spAutoFit/>
          </a:bodyPr>
          <a:lstStyle/>
          <a:p>
            <a:pPr algn="ctr"/>
            <a:r>
              <a:rPr sz="1400" b="1" i="0">
                <a:solidFill>
                  <a:srgbClr val="1A1A2E"/>
                </a:solidFill>
              </a:rPr>
              <a:t>9 999</a:t>
            </a:r>
          </a:p>
        </p:txBody>
      </p:sp>
      <p:sp>
        <p:nvSpPr>
          <p:cNvPr id="31" name="TextBox 30"/>
          <p:cNvSpPr txBox="1"/>
          <p:nvPr/>
        </p:nvSpPr>
        <p:spPr>
          <a:xfrm>
            <a:off x="6172200" y="5605272"/>
            <a:ext cx="5486400" cy="256032"/>
          </a:xfrm>
          <a:prstGeom prst="rect">
            <a:avLst/>
          </a:prstGeom>
          <a:noFill/>
        </p:spPr>
        <p:txBody>
          <a:bodyPr wrap="square">
            <a:spAutoFit/>
          </a:bodyPr>
          <a:lstStyle/>
          <a:p>
            <a:pPr algn="l"/>
            <a:r>
              <a:rPr sz="1100" b="0" i="1">
                <a:solidFill>
                  <a:srgbClr val="55657A"/>
                </a:solidFill>
              </a:rPr>
              <a:t>Fully trained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800" b="1">
                <a:solidFill>
                  <a:srgbClr val="FFFFFF"/>
                </a:solidFill>
              </a:rPr>
              <a:t>Run 2 — GN + SN Encoder (no noise)</a:t>
            </a:r>
          </a:p>
          <a:p>
            <a:pPr algn="l"/>
            <a:r>
              <a:rPr sz="1400">
                <a:solidFill>
                  <a:srgbClr val="CCDDFF"/>
                </a:solidFill>
              </a:rPr>
              <a:t>Stopped at epoch 57  ·  aggressive early stopping prevented convergence</a:t>
            </a:r>
          </a:p>
        </p:txBody>
      </p:sp>
      <p:sp>
        <p:nvSpPr>
          <p:cNvPr id="3" name="Rectangle 2"/>
          <p:cNvSpPr/>
          <p:nvPr/>
        </p:nvSpPr>
        <p:spPr>
          <a:xfrm>
            <a:off x="274320" y="1234440"/>
            <a:ext cx="5394960" cy="521208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98448"/>
            <a:ext cx="5212080" cy="320040"/>
          </a:xfrm>
          <a:prstGeom prst="rect">
            <a:avLst/>
          </a:prstGeom>
          <a:noFill/>
        </p:spPr>
        <p:txBody>
          <a:bodyPr wrap="square">
            <a:spAutoFit/>
          </a:bodyPr>
          <a:lstStyle/>
          <a:p>
            <a:pPr algn="l"/>
            <a:r>
              <a:rPr sz="1500" b="1" i="0">
                <a:solidFill>
                  <a:srgbClr val="1F6FEB"/>
                </a:solidFill>
              </a:rPr>
              <a:t>What happened</a:t>
            </a:r>
          </a:p>
        </p:txBody>
      </p:sp>
      <p:sp>
        <p:nvSpPr>
          <p:cNvPr id="5" name="TextBox 4"/>
          <p:cNvSpPr txBox="1"/>
          <p:nvPr/>
        </p:nvSpPr>
        <p:spPr>
          <a:xfrm>
            <a:off x="457200" y="1691640"/>
            <a:ext cx="5212080" cy="4663440"/>
          </a:xfrm>
          <a:prstGeom prst="rect">
            <a:avLst/>
          </a:prstGeom>
          <a:noFill/>
        </p:spPr>
        <p:txBody>
          <a:bodyPr wrap="square">
            <a:spAutoFit/>
          </a:bodyPr>
          <a:lstStyle/>
          <a:p>
            <a:pPr algn="l"/>
            <a:r>
              <a:rPr sz="1400" b="1">
                <a:solidFill>
                  <a:srgbClr val="E87D14"/>
                </a:solidFill>
              </a:rPr>
              <a:t>⚠  This run was configured with patience=10 from epoch 0 — the most aggressive early stopping possible.</a:t>
            </a:r>
          </a:p>
          <a:p>
            <a:pPr algn="l"/>
            <a:r>
              <a:rPr sz="600" b="0">
                <a:solidFill>
                  <a:srgbClr val="1A1A2E"/>
                </a:solidFill>
              </a:rPr>
              <a:t>    </a:t>
            </a:r>
          </a:p>
          <a:p>
            <a:pPr algn="l"/>
            <a:r>
              <a:rPr sz="1400" b="0">
                <a:solidFill>
                  <a:srgbClr val="1A1A2E"/>
                </a:solidFill>
              </a:rPr>
              <a:t>•  At epoch 57, both train rec (0.029) and val rec (0.032) are still high. The model had not yet entered the low-loss regime.</a:t>
            </a:r>
          </a:p>
          <a:p>
            <a:pPr algn="l"/>
            <a:r>
              <a:rPr sz="600" b="0">
                <a:solidFill>
                  <a:srgbClr val="1A1A2E"/>
                </a:solidFill>
              </a:rPr>
              <a:t>    </a:t>
            </a:r>
          </a:p>
          <a:p>
            <a:pPr algn="l"/>
            <a:r>
              <a:rPr sz="1400" b="0">
                <a:solidFill>
                  <a:srgbClr val="1A1A2E"/>
                </a:solidFill>
              </a:rPr>
              <a:t>•  Early stopping triggered because val rec did not improve for 10 consecutive epochs in the very early noisy phase of training.</a:t>
            </a:r>
          </a:p>
          <a:p>
            <a:pPr algn="l"/>
            <a:r>
              <a:rPr sz="600" b="0">
                <a:solidFill>
                  <a:srgbClr val="1A1A2E"/>
                </a:solidFill>
              </a:rPr>
              <a:t>    </a:t>
            </a:r>
          </a:p>
          <a:p>
            <a:pPr algn="l"/>
            <a:r>
              <a:rPr sz="1400" b="0">
                <a:solidFill>
                  <a:srgbClr val="E87D14"/>
                </a:solidFill>
              </a:rPr>
              <a:t>•  The apparent gap of 1.10× is not a sign of good generalisation — it simply means the model equally failed on both sets (underfitting).</a:t>
            </a:r>
          </a:p>
          <a:p>
            <a:pPr algn="l"/>
            <a:r>
              <a:rPr sz="600" b="0">
                <a:solidFill>
                  <a:srgbClr val="1A1A2E"/>
                </a:solidFill>
              </a:rPr>
              <a:t>    </a:t>
            </a:r>
          </a:p>
          <a:p>
            <a:pPr algn="l"/>
            <a:r>
              <a:rPr sz="1400" b="0">
                <a:solidFill>
                  <a:srgbClr val="1A1A2E"/>
                </a:solidFill>
              </a:rPr>
              <a:t>•  Volume never activated (pruning_epoch=500 not yet reached). Active dims = 100/100.</a:t>
            </a:r>
          </a:p>
          <a:p>
            <a:pPr algn="l"/>
            <a:r>
              <a:rPr sz="600" b="0">
                <a:solidFill>
                  <a:srgbClr val="1A1A2E"/>
                </a:solidFill>
              </a:rPr>
              <a:t>    </a:t>
            </a:r>
          </a:p>
          <a:p>
            <a:pPr algn="l"/>
            <a:r>
              <a:rPr sz="1400" b="1">
                <a:solidFill>
                  <a:srgbClr val="C0392B"/>
                </a:solidFill>
              </a:rPr>
              <a:t>•  Conclusion: this run is not usable for ablation. A properly converged GN-only run needs patience≥50 from epoch≥2000.</a:t>
            </a:r>
          </a:p>
        </p:txBody>
      </p:sp>
      <p:sp>
        <p:nvSpPr>
          <p:cNvPr id="6" name="Rectangle 5"/>
          <p:cNvSpPr/>
          <p:nvPr/>
        </p:nvSpPr>
        <p:spPr>
          <a:xfrm>
            <a:off x="5852160" y="1234440"/>
            <a:ext cx="6035040" cy="521208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0" y="1298448"/>
            <a:ext cx="5760720" cy="320040"/>
          </a:xfrm>
          <a:prstGeom prst="rect">
            <a:avLst/>
          </a:prstGeom>
          <a:noFill/>
        </p:spPr>
        <p:txBody>
          <a:bodyPr wrap="square">
            <a:spAutoFit/>
          </a:bodyPr>
          <a:lstStyle/>
          <a:p>
            <a:pPr algn="l"/>
            <a:r>
              <a:rPr sz="1500" b="1" i="0">
                <a:solidFill>
                  <a:srgbClr val="1F6FEB"/>
                </a:solidFill>
              </a:rPr>
              <a:t>Key numbers</a:t>
            </a:r>
          </a:p>
        </p:txBody>
      </p:sp>
      <p:sp>
        <p:nvSpPr>
          <p:cNvPr id="8" name="Rectangle 7"/>
          <p:cNvSpPr/>
          <p:nvPr/>
        </p:nvSpPr>
        <p:spPr>
          <a:xfrm>
            <a:off x="6035040" y="1691640"/>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728216"/>
            <a:ext cx="1828800" cy="292608"/>
          </a:xfrm>
          <a:prstGeom prst="rect">
            <a:avLst/>
          </a:prstGeom>
          <a:noFill/>
        </p:spPr>
        <p:txBody>
          <a:bodyPr wrap="square">
            <a:spAutoFit/>
          </a:bodyPr>
          <a:lstStyle/>
          <a:p>
            <a:pPr algn="l"/>
            <a:r>
              <a:rPr sz="1300" b="0" i="0">
                <a:solidFill>
                  <a:srgbClr val="55657A"/>
                </a:solidFill>
              </a:rPr>
              <a:t>Train rec</a:t>
            </a:r>
          </a:p>
        </p:txBody>
      </p:sp>
      <p:sp>
        <p:nvSpPr>
          <p:cNvPr id="10" name="TextBox 9"/>
          <p:cNvSpPr txBox="1"/>
          <p:nvPr/>
        </p:nvSpPr>
        <p:spPr>
          <a:xfrm>
            <a:off x="8046720" y="1728216"/>
            <a:ext cx="1645920" cy="292608"/>
          </a:xfrm>
          <a:prstGeom prst="rect">
            <a:avLst/>
          </a:prstGeom>
          <a:noFill/>
        </p:spPr>
        <p:txBody>
          <a:bodyPr wrap="square">
            <a:spAutoFit/>
          </a:bodyPr>
          <a:lstStyle/>
          <a:p>
            <a:pPr algn="ctr"/>
            <a:r>
              <a:rPr sz="1400" b="1" i="0">
                <a:solidFill>
                  <a:srgbClr val="E87D14"/>
                </a:solidFill>
              </a:rPr>
              <a:t>0.02939</a:t>
            </a:r>
          </a:p>
        </p:txBody>
      </p:sp>
      <p:sp>
        <p:nvSpPr>
          <p:cNvPr id="11" name="TextBox 10"/>
          <p:cNvSpPr txBox="1"/>
          <p:nvPr/>
        </p:nvSpPr>
        <p:spPr>
          <a:xfrm>
            <a:off x="6172200" y="2039112"/>
            <a:ext cx="5486400" cy="256032"/>
          </a:xfrm>
          <a:prstGeom prst="rect">
            <a:avLst/>
          </a:prstGeom>
          <a:noFill/>
        </p:spPr>
        <p:txBody>
          <a:bodyPr wrap="square">
            <a:spAutoFit/>
          </a:bodyPr>
          <a:lstStyle/>
          <a:p>
            <a:pPr algn="l"/>
            <a:r>
              <a:rPr sz="1100" b="0" i="1">
                <a:solidFill>
                  <a:srgbClr val="55657A"/>
                </a:solidFill>
              </a:rPr>
              <a:t>Model has not converged yet</a:t>
            </a:r>
          </a:p>
        </p:txBody>
      </p:sp>
      <p:sp>
        <p:nvSpPr>
          <p:cNvPr id="12" name="Rectangle 11"/>
          <p:cNvSpPr/>
          <p:nvPr/>
        </p:nvSpPr>
        <p:spPr>
          <a:xfrm>
            <a:off x="6035040" y="2404872"/>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2441448"/>
            <a:ext cx="1828800" cy="292608"/>
          </a:xfrm>
          <a:prstGeom prst="rect">
            <a:avLst/>
          </a:prstGeom>
          <a:noFill/>
        </p:spPr>
        <p:txBody>
          <a:bodyPr wrap="square">
            <a:spAutoFit/>
          </a:bodyPr>
          <a:lstStyle/>
          <a:p>
            <a:pPr algn="l"/>
            <a:r>
              <a:rPr sz="1300" b="0" i="0">
                <a:solidFill>
                  <a:srgbClr val="55657A"/>
                </a:solidFill>
              </a:rPr>
              <a:t>Val rec</a:t>
            </a:r>
          </a:p>
        </p:txBody>
      </p:sp>
      <p:sp>
        <p:nvSpPr>
          <p:cNvPr id="14" name="TextBox 13"/>
          <p:cNvSpPr txBox="1"/>
          <p:nvPr/>
        </p:nvSpPr>
        <p:spPr>
          <a:xfrm>
            <a:off x="8046720" y="2441448"/>
            <a:ext cx="1645920" cy="292608"/>
          </a:xfrm>
          <a:prstGeom prst="rect">
            <a:avLst/>
          </a:prstGeom>
          <a:noFill/>
        </p:spPr>
        <p:txBody>
          <a:bodyPr wrap="square">
            <a:spAutoFit/>
          </a:bodyPr>
          <a:lstStyle/>
          <a:p>
            <a:pPr algn="ctr"/>
            <a:r>
              <a:rPr sz="1400" b="1" i="0">
                <a:solidFill>
                  <a:srgbClr val="E87D14"/>
                </a:solidFill>
              </a:rPr>
              <a:t>0.03246</a:t>
            </a:r>
          </a:p>
        </p:txBody>
      </p:sp>
      <p:sp>
        <p:nvSpPr>
          <p:cNvPr id="15" name="TextBox 14"/>
          <p:cNvSpPr txBox="1"/>
          <p:nvPr/>
        </p:nvSpPr>
        <p:spPr>
          <a:xfrm>
            <a:off x="6172200" y="2752344"/>
            <a:ext cx="5486400" cy="256032"/>
          </a:xfrm>
          <a:prstGeom prst="rect">
            <a:avLst/>
          </a:prstGeom>
          <a:noFill/>
        </p:spPr>
        <p:txBody>
          <a:bodyPr wrap="square">
            <a:spAutoFit/>
          </a:bodyPr>
          <a:lstStyle/>
          <a:p>
            <a:pPr algn="l"/>
            <a:r>
              <a:rPr sz="1100" b="0" i="1">
                <a:solidFill>
                  <a:srgbClr val="55657A"/>
                </a:solidFill>
              </a:rPr>
              <a:t>Both high — underfitting</a:t>
            </a:r>
          </a:p>
        </p:txBody>
      </p:sp>
      <p:sp>
        <p:nvSpPr>
          <p:cNvPr id="16" name="Rectangle 15"/>
          <p:cNvSpPr/>
          <p:nvPr/>
        </p:nvSpPr>
        <p:spPr>
          <a:xfrm>
            <a:off x="6035040" y="3118104"/>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3154680"/>
            <a:ext cx="1828800" cy="292608"/>
          </a:xfrm>
          <a:prstGeom prst="rect">
            <a:avLst/>
          </a:prstGeom>
          <a:noFill/>
        </p:spPr>
        <p:txBody>
          <a:bodyPr wrap="square">
            <a:spAutoFit/>
          </a:bodyPr>
          <a:lstStyle/>
          <a:p>
            <a:pPr algn="l"/>
            <a:r>
              <a:rPr sz="1300" b="0" i="0">
                <a:solidFill>
                  <a:srgbClr val="55657A"/>
                </a:solidFill>
              </a:rPr>
              <a:t>Gap</a:t>
            </a:r>
          </a:p>
        </p:txBody>
      </p:sp>
      <p:sp>
        <p:nvSpPr>
          <p:cNvPr id="18" name="TextBox 17"/>
          <p:cNvSpPr txBox="1"/>
          <p:nvPr/>
        </p:nvSpPr>
        <p:spPr>
          <a:xfrm>
            <a:off x="8046720" y="3154680"/>
            <a:ext cx="1645920" cy="292608"/>
          </a:xfrm>
          <a:prstGeom prst="rect">
            <a:avLst/>
          </a:prstGeom>
          <a:noFill/>
        </p:spPr>
        <p:txBody>
          <a:bodyPr wrap="square">
            <a:spAutoFit/>
          </a:bodyPr>
          <a:lstStyle/>
          <a:p>
            <a:pPr algn="ctr"/>
            <a:r>
              <a:rPr sz="1400" b="1" i="0">
                <a:solidFill>
                  <a:srgbClr val="E87D14"/>
                </a:solidFill>
              </a:rPr>
              <a:t>1.10×</a:t>
            </a:r>
          </a:p>
        </p:txBody>
      </p:sp>
      <p:sp>
        <p:nvSpPr>
          <p:cNvPr id="19" name="TextBox 18"/>
          <p:cNvSpPr txBox="1"/>
          <p:nvPr/>
        </p:nvSpPr>
        <p:spPr>
          <a:xfrm>
            <a:off x="6172200" y="3465576"/>
            <a:ext cx="5486400" cy="256032"/>
          </a:xfrm>
          <a:prstGeom prst="rect">
            <a:avLst/>
          </a:prstGeom>
          <a:noFill/>
        </p:spPr>
        <p:txBody>
          <a:bodyPr wrap="square">
            <a:spAutoFit/>
          </a:bodyPr>
          <a:lstStyle/>
          <a:p>
            <a:pPr algn="l"/>
            <a:r>
              <a:rPr sz="1100" b="0" i="1">
                <a:solidFill>
                  <a:srgbClr val="55657A"/>
                </a:solidFill>
              </a:rPr>
              <a:t>Misleading: both losses high</a:t>
            </a:r>
          </a:p>
        </p:txBody>
      </p:sp>
      <p:sp>
        <p:nvSpPr>
          <p:cNvPr id="20" name="Rectangle 19"/>
          <p:cNvSpPr/>
          <p:nvPr/>
        </p:nvSpPr>
        <p:spPr>
          <a:xfrm>
            <a:off x="6035040" y="3831336"/>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3867912"/>
            <a:ext cx="1828800" cy="292608"/>
          </a:xfrm>
          <a:prstGeom prst="rect">
            <a:avLst/>
          </a:prstGeom>
          <a:noFill/>
        </p:spPr>
        <p:txBody>
          <a:bodyPr wrap="square">
            <a:spAutoFit/>
          </a:bodyPr>
          <a:lstStyle/>
          <a:p>
            <a:pPr algn="l"/>
            <a:r>
              <a:rPr sz="1300" b="0" i="0">
                <a:solidFill>
                  <a:srgbClr val="55657A"/>
                </a:solidFill>
              </a:rPr>
              <a:t>Active dims</a:t>
            </a:r>
          </a:p>
        </p:txBody>
      </p:sp>
      <p:sp>
        <p:nvSpPr>
          <p:cNvPr id="22" name="TextBox 21"/>
          <p:cNvSpPr txBox="1"/>
          <p:nvPr/>
        </p:nvSpPr>
        <p:spPr>
          <a:xfrm>
            <a:off x="8046720" y="3867912"/>
            <a:ext cx="1645920" cy="292608"/>
          </a:xfrm>
          <a:prstGeom prst="rect">
            <a:avLst/>
          </a:prstGeom>
          <a:noFill/>
        </p:spPr>
        <p:txBody>
          <a:bodyPr wrap="square">
            <a:spAutoFit/>
          </a:bodyPr>
          <a:lstStyle/>
          <a:p>
            <a:pPr algn="ctr"/>
            <a:r>
              <a:rPr sz="1400" b="1" i="0">
                <a:solidFill>
                  <a:srgbClr val="1A1A2E"/>
                </a:solidFill>
              </a:rPr>
              <a:t>100 / 100</a:t>
            </a:r>
          </a:p>
        </p:txBody>
      </p:sp>
      <p:sp>
        <p:nvSpPr>
          <p:cNvPr id="23" name="TextBox 22"/>
          <p:cNvSpPr txBox="1"/>
          <p:nvPr/>
        </p:nvSpPr>
        <p:spPr>
          <a:xfrm>
            <a:off x="6172200" y="4178808"/>
            <a:ext cx="5486400" cy="256032"/>
          </a:xfrm>
          <a:prstGeom prst="rect">
            <a:avLst/>
          </a:prstGeom>
          <a:noFill/>
        </p:spPr>
        <p:txBody>
          <a:bodyPr wrap="square">
            <a:spAutoFit/>
          </a:bodyPr>
          <a:lstStyle/>
          <a:p>
            <a:pPr algn="l"/>
            <a:r>
              <a:rPr sz="1100" b="0" i="1">
                <a:solidFill>
                  <a:srgbClr val="55657A"/>
                </a:solidFill>
              </a:rPr>
              <a:t>Pruning not reached (ep &lt; 500)</a:t>
            </a:r>
          </a:p>
        </p:txBody>
      </p:sp>
      <p:sp>
        <p:nvSpPr>
          <p:cNvPr id="24" name="Rectangle 23"/>
          <p:cNvSpPr/>
          <p:nvPr/>
        </p:nvSpPr>
        <p:spPr>
          <a:xfrm>
            <a:off x="6035040" y="4544568"/>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4581144"/>
            <a:ext cx="1828800" cy="292608"/>
          </a:xfrm>
          <a:prstGeom prst="rect">
            <a:avLst/>
          </a:prstGeom>
          <a:noFill/>
        </p:spPr>
        <p:txBody>
          <a:bodyPr wrap="square">
            <a:spAutoFit/>
          </a:bodyPr>
          <a:lstStyle/>
          <a:p>
            <a:pPr algn="l"/>
            <a:r>
              <a:rPr sz="1300" b="0" i="0">
                <a:solidFill>
                  <a:srgbClr val="55657A"/>
                </a:solidFill>
              </a:rPr>
              <a:t>Vol active</a:t>
            </a:r>
          </a:p>
        </p:txBody>
      </p:sp>
      <p:sp>
        <p:nvSpPr>
          <p:cNvPr id="26" name="TextBox 25"/>
          <p:cNvSpPr txBox="1"/>
          <p:nvPr/>
        </p:nvSpPr>
        <p:spPr>
          <a:xfrm>
            <a:off x="8046720" y="4581144"/>
            <a:ext cx="1645920" cy="292608"/>
          </a:xfrm>
          <a:prstGeom prst="rect">
            <a:avLst/>
          </a:prstGeom>
          <a:noFill/>
        </p:spPr>
        <p:txBody>
          <a:bodyPr wrap="square">
            <a:spAutoFit/>
          </a:bodyPr>
          <a:lstStyle/>
          <a:p>
            <a:pPr algn="ctr"/>
            <a:r>
              <a:rPr sz="1400" b="1" i="0">
                <a:solidFill>
                  <a:srgbClr val="1A1A2E"/>
                </a:solidFill>
              </a:rPr>
              <a:t>No</a:t>
            </a:r>
          </a:p>
        </p:txBody>
      </p:sp>
      <p:sp>
        <p:nvSpPr>
          <p:cNvPr id="27" name="TextBox 26"/>
          <p:cNvSpPr txBox="1"/>
          <p:nvPr/>
        </p:nvSpPr>
        <p:spPr>
          <a:xfrm>
            <a:off x="6172200" y="4892040"/>
            <a:ext cx="5486400" cy="256032"/>
          </a:xfrm>
          <a:prstGeom prst="rect">
            <a:avLst/>
          </a:prstGeom>
          <a:noFill/>
        </p:spPr>
        <p:txBody>
          <a:bodyPr wrap="square">
            <a:spAutoFit/>
          </a:bodyPr>
          <a:lstStyle/>
          <a:p>
            <a:pPr algn="l"/>
            <a:r>
              <a:rPr sz="1100" b="0" i="1">
                <a:solidFill>
                  <a:srgbClr val="55657A"/>
                </a:solidFill>
              </a:rPr>
              <a:t/>
            </a:r>
          </a:p>
        </p:txBody>
      </p:sp>
      <p:sp>
        <p:nvSpPr>
          <p:cNvPr id="28" name="Rectangle 27"/>
          <p:cNvSpPr/>
          <p:nvPr/>
        </p:nvSpPr>
        <p:spPr>
          <a:xfrm>
            <a:off x="6035040" y="5257800"/>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72200" y="5294376"/>
            <a:ext cx="1828800" cy="292608"/>
          </a:xfrm>
          <a:prstGeom prst="rect">
            <a:avLst/>
          </a:prstGeom>
          <a:noFill/>
        </p:spPr>
        <p:txBody>
          <a:bodyPr wrap="square">
            <a:spAutoFit/>
          </a:bodyPr>
          <a:lstStyle/>
          <a:p>
            <a:pPr algn="l"/>
            <a:r>
              <a:rPr sz="1300" b="0" i="0">
                <a:solidFill>
                  <a:srgbClr val="55657A"/>
                </a:solidFill>
              </a:rPr>
              <a:t>Epoch</a:t>
            </a:r>
          </a:p>
        </p:txBody>
      </p:sp>
      <p:sp>
        <p:nvSpPr>
          <p:cNvPr id="30" name="TextBox 29"/>
          <p:cNvSpPr txBox="1"/>
          <p:nvPr/>
        </p:nvSpPr>
        <p:spPr>
          <a:xfrm>
            <a:off x="8046720" y="5294376"/>
            <a:ext cx="1645920" cy="292608"/>
          </a:xfrm>
          <a:prstGeom prst="rect">
            <a:avLst/>
          </a:prstGeom>
          <a:noFill/>
        </p:spPr>
        <p:txBody>
          <a:bodyPr wrap="square">
            <a:spAutoFit/>
          </a:bodyPr>
          <a:lstStyle/>
          <a:p>
            <a:pPr algn="ctr"/>
            <a:r>
              <a:rPr sz="1400" b="1" i="0">
                <a:solidFill>
                  <a:srgbClr val="C0392B"/>
                </a:solidFill>
              </a:rPr>
              <a:t>57</a:t>
            </a:r>
          </a:p>
        </p:txBody>
      </p:sp>
      <p:sp>
        <p:nvSpPr>
          <p:cNvPr id="31" name="TextBox 30"/>
          <p:cNvSpPr txBox="1"/>
          <p:nvPr/>
        </p:nvSpPr>
        <p:spPr>
          <a:xfrm>
            <a:off x="6172200" y="5605272"/>
            <a:ext cx="5486400" cy="256032"/>
          </a:xfrm>
          <a:prstGeom prst="rect">
            <a:avLst/>
          </a:prstGeom>
          <a:noFill/>
        </p:spPr>
        <p:txBody>
          <a:bodyPr wrap="square">
            <a:spAutoFit/>
          </a:bodyPr>
          <a:lstStyle/>
          <a:p>
            <a:pPr algn="l"/>
            <a:r>
              <a:rPr sz="1100" b="0" i="1">
                <a:solidFill>
                  <a:srgbClr val="55657A"/>
                </a:solidFill>
              </a:rPr>
              <a:t>Stopped far too early</a:t>
            </a:r>
          </a:p>
        </p:txBody>
      </p:sp>
      <p:sp>
        <p:nvSpPr>
          <p:cNvPr id="32" name="TextBox 31"/>
          <p:cNvSpPr txBox="1"/>
          <p:nvPr/>
        </p:nvSpPr>
        <p:spPr>
          <a:xfrm>
            <a:off x="5897880" y="5897880"/>
            <a:ext cx="5943600" cy="548640"/>
          </a:xfrm>
          <a:prstGeom prst="rect">
            <a:avLst/>
          </a:prstGeom>
          <a:noFill/>
        </p:spPr>
        <p:txBody>
          <a:bodyPr wrap="square">
            <a:spAutoFit/>
          </a:bodyPr>
          <a:lstStyle/>
          <a:p>
            <a:pPr algn="l"/>
            <a:r>
              <a:rPr sz="1200" b="1" i="0">
                <a:solidFill>
                  <a:srgbClr val="C0392B"/>
                </a:solidFill>
              </a:rPr>
              <a:t>ACTION NEEDED: Re-run GN encoder without noise with early_stopping_start_epoch=2000, patience=50 to get a fair ablation point.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800" b="1">
                <a:solidFill>
                  <a:srgbClr val="FFFFFF"/>
                </a:solidFill>
              </a:rPr>
              <a:t>Run 3 — GN + SN Encoder + Latent Noise (σ = 0.1)</a:t>
            </a:r>
          </a:p>
          <a:p>
            <a:pPr algn="l"/>
            <a:r>
              <a:rPr sz="1400">
                <a:solidFill>
                  <a:srgbClr val="CCDDFF"/>
                </a:solidFill>
              </a:rPr>
              <a:t>Epoch 1033 / 10 000  ·  still running  ·  early stopping from epoch 2000</a:t>
            </a:r>
          </a:p>
        </p:txBody>
      </p:sp>
      <p:sp>
        <p:nvSpPr>
          <p:cNvPr id="3" name="Rectangle 2"/>
          <p:cNvSpPr/>
          <p:nvPr/>
        </p:nvSpPr>
        <p:spPr>
          <a:xfrm>
            <a:off x="274320" y="1234440"/>
            <a:ext cx="5394960" cy="521208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98448"/>
            <a:ext cx="5212080" cy="320040"/>
          </a:xfrm>
          <a:prstGeom prst="rect">
            <a:avLst/>
          </a:prstGeom>
          <a:noFill/>
        </p:spPr>
        <p:txBody>
          <a:bodyPr wrap="square">
            <a:spAutoFit/>
          </a:bodyPr>
          <a:lstStyle/>
          <a:p>
            <a:pPr algn="l"/>
            <a:r>
              <a:rPr sz="1500" b="1" i="0">
                <a:solidFill>
                  <a:srgbClr val="1F6FEB"/>
                </a:solidFill>
              </a:rPr>
              <a:t>What's happening so far</a:t>
            </a:r>
          </a:p>
        </p:txBody>
      </p:sp>
      <p:sp>
        <p:nvSpPr>
          <p:cNvPr id="5" name="TextBox 4"/>
          <p:cNvSpPr txBox="1"/>
          <p:nvPr/>
        </p:nvSpPr>
        <p:spPr>
          <a:xfrm>
            <a:off x="457200" y="1691640"/>
            <a:ext cx="5212080" cy="4663440"/>
          </a:xfrm>
          <a:prstGeom prst="rect">
            <a:avLst/>
          </a:prstGeom>
          <a:noFill/>
        </p:spPr>
        <p:txBody>
          <a:bodyPr wrap="square">
            <a:spAutoFit/>
          </a:bodyPr>
          <a:lstStyle/>
          <a:p>
            <a:pPr algn="l"/>
            <a:r>
              <a:rPr sz="1400" b="0">
                <a:solidFill>
                  <a:srgbClr val="0A7D57"/>
                </a:solidFill>
              </a:rPr>
              <a:t>✓  Train rec = 0.008553. The model is learning but regularised: noise prevents collapsing train rec to near-zero.</a:t>
            </a:r>
          </a:p>
          <a:p>
            <a:pPr algn="l"/>
            <a:r>
              <a:rPr sz="600" b="0">
                <a:solidFill>
                  <a:srgbClr val="1A1A2E"/>
                </a:solidFill>
              </a:rPr>
              <a:t>    </a:t>
            </a:r>
          </a:p>
          <a:p>
            <a:pPr algn="l"/>
            <a:r>
              <a:rPr sz="1400" b="1">
                <a:solidFill>
                  <a:srgbClr val="0A7D57"/>
                </a:solidFill>
              </a:rPr>
              <a:t>✓  Val rec = 0.03121 — already better than the fully-trained baseline (0.03309). The decoder generalises more robustly with noise.</a:t>
            </a:r>
          </a:p>
          <a:p>
            <a:pPr algn="l"/>
            <a:r>
              <a:rPr sz="600" b="0">
                <a:solidFill>
                  <a:srgbClr val="1A1A2E"/>
                </a:solidFill>
              </a:rPr>
              <a:t>    </a:t>
            </a:r>
          </a:p>
          <a:p>
            <a:pPr algn="l"/>
            <a:r>
              <a:rPr sz="1400" b="0">
                <a:solidFill>
                  <a:srgbClr val="1A1A2E"/>
                </a:solidFill>
              </a:rPr>
              <a:t>•  Gap = 3.65×. Still large, but massively better than the baseline's 80×. The noise forces the decoder to handle imprecise latent codes.</a:t>
            </a:r>
          </a:p>
          <a:p>
            <a:pPr algn="l"/>
            <a:r>
              <a:rPr sz="600" b="0">
                <a:solidFill>
                  <a:srgbClr val="1A1A2E"/>
                </a:solidFill>
              </a:rPr>
              <a:t>    </a:t>
            </a:r>
          </a:p>
          <a:p>
            <a:pPr algn="l"/>
            <a:r>
              <a:rPr sz="1400" b="0">
                <a:solidFill>
                  <a:srgbClr val="1A1A2E"/>
                </a:solidFill>
              </a:rPr>
              <a:t>•  Active dims = 69/100. Volume has activated and already pruned 31 dimensions — at only epoch 1033 vs the baseline's 65 dims at epoch 9999.</a:t>
            </a:r>
          </a:p>
          <a:p>
            <a:pPr algn="l"/>
            <a:r>
              <a:rPr sz="600" b="0">
                <a:solidFill>
                  <a:srgbClr val="1A1A2E"/>
                </a:solidFill>
              </a:rPr>
              <a:t>    </a:t>
            </a:r>
          </a:p>
          <a:p>
            <a:pPr algn="l"/>
            <a:r>
              <a:rPr sz="1400" b="0">
                <a:solidFill>
                  <a:srgbClr val="1A1A2E"/>
                </a:solidFill>
              </a:rPr>
              <a:t>•  Train NMSE is near the 0.05 threshold — volume pressure is gated and working. Model is being compressed while generalising.</a:t>
            </a:r>
          </a:p>
          <a:p>
            <a:pPr algn="l"/>
            <a:r>
              <a:rPr sz="600" b="0">
                <a:solidFill>
                  <a:srgbClr val="1A1A2E"/>
                </a:solidFill>
              </a:rPr>
              <a:t>    </a:t>
            </a:r>
          </a:p>
          <a:p>
            <a:pPr algn="l"/>
            <a:r>
              <a:rPr sz="1400" b="0">
                <a:solidFill>
                  <a:srgbClr val="55657A"/>
                </a:solidFill>
              </a:rPr>
              <a:t>•  Early stopping not yet active (starts epoch 2000). The run has ~7000 more epochs. Expect further pruning and convergence.</a:t>
            </a:r>
          </a:p>
        </p:txBody>
      </p:sp>
      <p:sp>
        <p:nvSpPr>
          <p:cNvPr id="6" name="Rectangle 5"/>
          <p:cNvSpPr/>
          <p:nvPr/>
        </p:nvSpPr>
        <p:spPr>
          <a:xfrm>
            <a:off x="5852160" y="1234440"/>
            <a:ext cx="6035040" cy="521208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35040" y="1298448"/>
            <a:ext cx="5760720" cy="320040"/>
          </a:xfrm>
          <a:prstGeom prst="rect">
            <a:avLst/>
          </a:prstGeom>
          <a:noFill/>
        </p:spPr>
        <p:txBody>
          <a:bodyPr wrap="square">
            <a:spAutoFit/>
          </a:bodyPr>
          <a:lstStyle/>
          <a:p>
            <a:pPr algn="l"/>
            <a:r>
              <a:rPr sz="1500" b="1" i="0">
                <a:solidFill>
                  <a:srgbClr val="1F6FEB"/>
                </a:solidFill>
              </a:rPr>
              <a:t>Key numbers</a:t>
            </a:r>
          </a:p>
        </p:txBody>
      </p:sp>
      <p:sp>
        <p:nvSpPr>
          <p:cNvPr id="8" name="Rectangle 7"/>
          <p:cNvSpPr/>
          <p:nvPr/>
        </p:nvSpPr>
        <p:spPr>
          <a:xfrm>
            <a:off x="6035040" y="1691640"/>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172200" y="1728216"/>
            <a:ext cx="1828800" cy="292608"/>
          </a:xfrm>
          <a:prstGeom prst="rect">
            <a:avLst/>
          </a:prstGeom>
          <a:noFill/>
        </p:spPr>
        <p:txBody>
          <a:bodyPr wrap="square">
            <a:spAutoFit/>
          </a:bodyPr>
          <a:lstStyle/>
          <a:p>
            <a:pPr algn="l"/>
            <a:r>
              <a:rPr sz="1300" b="0" i="0">
                <a:solidFill>
                  <a:srgbClr val="55657A"/>
                </a:solidFill>
              </a:rPr>
              <a:t>Train rec</a:t>
            </a:r>
          </a:p>
        </p:txBody>
      </p:sp>
      <p:sp>
        <p:nvSpPr>
          <p:cNvPr id="10" name="TextBox 9"/>
          <p:cNvSpPr txBox="1"/>
          <p:nvPr/>
        </p:nvSpPr>
        <p:spPr>
          <a:xfrm>
            <a:off x="8046720" y="1728216"/>
            <a:ext cx="1920240" cy="292608"/>
          </a:xfrm>
          <a:prstGeom prst="rect">
            <a:avLst/>
          </a:prstGeom>
          <a:noFill/>
        </p:spPr>
        <p:txBody>
          <a:bodyPr wrap="square">
            <a:spAutoFit/>
          </a:bodyPr>
          <a:lstStyle/>
          <a:p>
            <a:pPr algn="ctr"/>
            <a:r>
              <a:rPr sz="1400" b="1" i="0">
                <a:solidFill>
                  <a:srgbClr val="1A1A2E"/>
                </a:solidFill>
              </a:rPr>
              <a:t>0.008553</a:t>
            </a:r>
          </a:p>
        </p:txBody>
      </p:sp>
      <p:sp>
        <p:nvSpPr>
          <p:cNvPr id="11" name="TextBox 10"/>
          <p:cNvSpPr txBox="1"/>
          <p:nvPr/>
        </p:nvSpPr>
        <p:spPr>
          <a:xfrm>
            <a:off x="6172200" y="2039112"/>
            <a:ext cx="5486400" cy="256032"/>
          </a:xfrm>
          <a:prstGeom prst="rect">
            <a:avLst/>
          </a:prstGeom>
          <a:noFill/>
        </p:spPr>
        <p:txBody>
          <a:bodyPr wrap="square">
            <a:spAutoFit/>
          </a:bodyPr>
          <a:lstStyle/>
          <a:p>
            <a:pPr algn="l"/>
            <a:r>
              <a:rPr sz="1100" b="0" i="1">
                <a:solidFill>
                  <a:srgbClr val="55657A"/>
                </a:solidFill>
              </a:rPr>
              <a:t>Regularised — noise prevents memorising</a:t>
            </a:r>
          </a:p>
        </p:txBody>
      </p:sp>
      <p:sp>
        <p:nvSpPr>
          <p:cNvPr id="12" name="Rectangle 11"/>
          <p:cNvSpPr/>
          <p:nvPr/>
        </p:nvSpPr>
        <p:spPr>
          <a:xfrm>
            <a:off x="6035040" y="2404872"/>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72200" y="2441448"/>
            <a:ext cx="1828800" cy="292608"/>
          </a:xfrm>
          <a:prstGeom prst="rect">
            <a:avLst/>
          </a:prstGeom>
          <a:noFill/>
        </p:spPr>
        <p:txBody>
          <a:bodyPr wrap="square">
            <a:spAutoFit/>
          </a:bodyPr>
          <a:lstStyle/>
          <a:p>
            <a:pPr algn="l"/>
            <a:r>
              <a:rPr sz="1300" b="0" i="0">
                <a:solidFill>
                  <a:srgbClr val="55657A"/>
                </a:solidFill>
              </a:rPr>
              <a:t>Val rec</a:t>
            </a:r>
          </a:p>
        </p:txBody>
      </p:sp>
      <p:sp>
        <p:nvSpPr>
          <p:cNvPr id="14" name="TextBox 13"/>
          <p:cNvSpPr txBox="1"/>
          <p:nvPr/>
        </p:nvSpPr>
        <p:spPr>
          <a:xfrm>
            <a:off x="8046720" y="2441448"/>
            <a:ext cx="1920240" cy="292608"/>
          </a:xfrm>
          <a:prstGeom prst="rect">
            <a:avLst/>
          </a:prstGeom>
          <a:noFill/>
        </p:spPr>
        <p:txBody>
          <a:bodyPr wrap="square">
            <a:spAutoFit/>
          </a:bodyPr>
          <a:lstStyle/>
          <a:p>
            <a:pPr algn="ctr"/>
            <a:r>
              <a:rPr sz="1400" b="1" i="0">
                <a:solidFill>
                  <a:srgbClr val="0A7D57"/>
                </a:solidFill>
              </a:rPr>
              <a:t>0.03121</a:t>
            </a:r>
          </a:p>
        </p:txBody>
      </p:sp>
      <p:sp>
        <p:nvSpPr>
          <p:cNvPr id="15" name="TextBox 14"/>
          <p:cNvSpPr txBox="1"/>
          <p:nvPr/>
        </p:nvSpPr>
        <p:spPr>
          <a:xfrm>
            <a:off x="6172200" y="2752344"/>
            <a:ext cx="5486400" cy="256032"/>
          </a:xfrm>
          <a:prstGeom prst="rect">
            <a:avLst/>
          </a:prstGeom>
          <a:noFill/>
        </p:spPr>
        <p:txBody>
          <a:bodyPr wrap="square">
            <a:spAutoFit/>
          </a:bodyPr>
          <a:lstStyle/>
          <a:p>
            <a:pPr algn="l"/>
            <a:r>
              <a:rPr sz="1100" b="0" i="1">
                <a:solidFill>
                  <a:srgbClr val="55657A"/>
                </a:solidFill>
              </a:rPr>
              <a:t>Better than fully-trained baseline!</a:t>
            </a:r>
          </a:p>
        </p:txBody>
      </p:sp>
      <p:sp>
        <p:nvSpPr>
          <p:cNvPr id="16" name="Rectangle 15"/>
          <p:cNvSpPr/>
          <p:nvPr/>
        </p:nvSpPr>
        <p:spPr>
          <a:xfrm>
            <a:off x="6035040" y="3118104"/>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3154680"/>
            <a:ext cx="1828800" cy="292608"/>
          </a:xfrm>
          <a:prstGeom prst="rect">
            <a:avLst/>
          </a:prstGeom>
          <a:noFill/>
        </p:spPr>
        <p:txBody>
          <a:bodyPr wrap="square">
            <a:spAutoFit/>
          </a:bodyPr>
          <a:lstStyle/>
          <a:p>
            <a:pPr algn="l"/>
            <a:r>
              <a:rPr sz="1300" b="0" i="0">
                <a:solidFill>
                  <a:srgbClr val="55657A"/>
                </a:solidFill>
              </a:rPr>
              <a:t>Gap</a:t>
            </a:r>
          </a:p>
        </p:txBody>
      </p:sp>
      <p:sp>
        <p:nvSpPr>
          <p:cNvPr id="18" name="TextBox 17"/>
          <p:cNvSpPr txBox="1"/>
          <p:nvPr/>
        </p:nvSpPr>
        <p:spPr>
          <a:xfrm>
            <a:off x="8046720" y="3154680"/>
            <a:ext cx="1920240" cy="292608"/>
          </a:xfrm>
          <a:prstGeom prst="rect">
            <a:avLst/>
          </a:prstGeom>
          <a:noFill/>
        </p:spPr>
        <p:txBody>
          <a:bodyPr wrap="square">
            <a:spAutoFit/>
          </a:bodyPr>
          <a:lstStyle/>
          <a:p>
            <a:pPr algn="ctr"/>
            <a:r>
              <a:rPr sz="1400" b="1" i="0">
                <a:solidFill>
                  <a:srgbClr val="E87D14"/>
                </a:solidFill>
              </a:rPr>
              <a:t>3.65×</a:t>
            </a:r>
          </a:p>
        </p:txBody>
      </p:sp>
      <p:sp>
        <p:nvSpPr>
          <p:cNvPr id="19" name="TextBox 18"/>
          <p:cNvSpPr txBox="1"/>
          <p:nvPr/>
        </p:nvSpPr>
        <p:spPr>
          <a:xfrm>
            <a:off x="6172200" y="3465576"/>
            <a:ext cx="5486400" cy="256032"/>
          </a:xfrm>
          <a:prstGeom prst="rect">
            <a:avLst/>
          </a:prstGeom>
          <a:noFill/>
        </p:spPr>
        <p:txBody>
          <a:bodyPr wrap="square">
            <a:spAutoFit/>
          </a:bodyPr>
          <a:lstStyle/>
          <a:p>
            <a:pPr algn="l"/>
            <a:r>
              <a:rPr sz="1100" b="0" i="1">
                <a:solidFill>
                  <a:srgbClr val="55657A"/>
                </a:solidFill>
              </a:rPr>
              <a:t>Reduced from 80× — noise works</a:t>
            </a:r>
          </a:p>
        </p:txBody>
      </p:sp>
      <p:sp>
        <p:nvSpPr>
          <p:cNvPr id="20" name="Rectangle 19"/>
          <p:cNvSpPr/>
          <p:nvPr/>
        </p:nvSpPr>
        <p:spPr>
          <a:xfrm>
            <a:off x="6035040" y="3831336"/>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3867912"/>
            <a:ext cx="1828800" cy="292608"/>
          </a:xfrm>
          <a:prstGeom prst="rect">
            <a:avLst/>
          </a:prstGeom>
          <a:noFill/>
        </p:spPr>
        <p:txBody>
          <a:bodyPr wrap="square">
            <a:spAutoFit/>
          </a:bodyPr>
          <a:lstStyle/>
          <a:p>
            <a:pPr algn="l"/>
            <a:r>
              <a:rPr sz="1300" b="0" i="0">
                <a:solidFill>
                  <a:srgbClr val="55657A"/>
                </a:solidFill>
              </a:rPr>
              <a:t>Active dims</a:t>
            </a:r>
          </a:p>
        </p:txBody>
      </p:sp>
      <p:sp>
        <p:nvSpPr>
          <p:cNvPr id="22" name="TextBox 21"/>
          <p:cNvSpPr txBox="1"/>
          <p:nvPr/>
        </p:nvSpPr>
        <p:spPr>
          <a:xfrm>
            <a:off x="8046720" y="3867912"/>
            <a:ext cx="1920240" cy="292608"/>
          </a:xfrm>
          <a:prstGeom prst="rect">
            <a:avLst/>
          </a:prstGeom>
          <a:noFill/>
        </p:spPr>
        <p:txBody>
          <a:bodyPr wrap="square">
            <a:spAutoFit/>
          </a:bodyPr>
          <a:lstStyle/>
          <a:p>
            <a:pPr algn="ctr"/>
            <a:r>
              <a:rPr sz="1400" b="1" i="0">
                <a:solidFill>
                  <a:srgbClr val="0A7D57"/>
                </a:solidFill>
              </a:rPr>
              <a:t>69 / 100</a:t>
            </a:r>
          </a:p>
        </p:txBody>
      </p:sp>
      <p:sp>
        <p:nvSpPr>
          <p:cNvPr id="23" name="TextBox 22"/>
          <p:cNvSpPr txBox="1"/>
          <p:nvPr/>
        </p:nvSpPr>
        <p:spPr>
          <a:xfrm>
            <a:off x="6172200" y="4178808"/>
            <a:ext cx="5486400" cy="256032"/>
          </a:xfrm>
          <a:prstGeom prst="rect">
            <a:avLst/>
          </a:prstGeom>
          <a:noFill/>
        </p:spPr>
        <p:txBody>
          <a:bodyPr wrap="square">
            <a:spAutoFit/>
          </a:bodyPr>
          <a:lstStyle/>
          <a:p>
            <a:pPr algn="l"/>
            <a:r>
              <a:rPr sz="1100" b="0" i="1">
                <a:solidFill>
                  <a:srgbClr val="55657A"/>
                </a:solidFill>
              </a:rPr>
              <a:t>31 dims pruned at only ep 1033</a:t>
            </a:r>
          </a:p>
        </p:txBody>
      </p:sp>
      <p:sp>
        <p:nvSpPr>
          <p:cNvPr id="24" name="Rectangle 23"/>
          <p:cNvSpPr/>
          <p:nvPr/>
        </p:nvSpPr>
        <p:spPr>
          <a:xfrm>
            <a:off x="6035040" y="4544568"/>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72200" y="4581144"/>
            <a:ext cx="1828800" cy="292608"/>
          </a:xfrm>
          <a:prstGeom prst="rect">
            <a:avLst/>
          </a:prstGeom>
          <a:noFill/>
        </p:spPr>
        <p:txBody>
          <a:bodyPr wrap="square">
            <a:spAutoFit/>
          </a:bodyPr>
          <a:lstStyle/>
          <a:p>
            <a:pPr algn="l"/>
            <a:r>
              <a:rPr sz="1300" b="0" i="0">
                <a:solidFill>
                  <a:srgbClr val="55657A"/>
                </a:solidFill>
              </a:rPr>
              <a:t>Vol active</a:t>
            </a:r>
          </a:p>
        </p:txBody>
      </p:sp>
      <p:sp>
        <p:nvSpPr>
          <p:cNvPr id="26" name="TextBox 25"/>
          <p:cNvSpPr txBox="1"/>
          <p:nvPr/>
        </p:nvSpPr>
        <p:spPr>
          <a:xfrm>
            <a:off x="8046720" y="4581144"/>
            <a:ext cx="1920240" cy="292608"/>
          </a:xfrm>
          <a:prstGeom prst="rect">
            <a:avLst/>
          </a:prstGeom>
          <a:noFill/>
        </p:spPr>
        <p:txBody>
          <a:bodyPr wrap="square">
            <a:spAutoFit/>
          </a:bodyPr>
          <a:lstStyle/>
          <a:p>
            <a:pPr algn="ctr"/>
            <a:r>
              <a:rPr sz="1400" b="1" i="0">
                <a:solidFill>
                  <a:srgbClr val="0A7D57"/>
                </a:solidFill>
              </a:rPr>
              <a:t>Yes</a:t>
            </a:r>
          </a:p>
        </p:txBody>
      </p:sp>
      <p:sp>
        <p:nvSpPr>
          <p:cNvPr id="27" name="TextBox 26"/>
          <p:cNvSpPr txBox="1"/>
          <p:nvPr/>
        </p:nvSpPr>
        <p:spPr>
          <a:xfrm>
            <a:off x="6172200" y="4892040"/>
            <a:ext cx="5486400" cy="256032"/>
          </a:xfrm>
          <a:prstGeom prst="rect">
            <a:avLst/>
          </a:prstGeom>
          <a:noFill/>
        </p:spPr>
        <p:txBody>
          <a:bodyPr wrap="square">
            <a:spAutoFit/>
          </a:bodyPr>
          <a:lstStyle/>
          <a:p>
            <a:pPr algn="l"/>
            <a:r>
              <a:rPr sz="1100" b="0" i="1">
                <a:solidFill>
                  <a:srgbClr val="55657A"/>
                </a:solidFill>
              </a:rPr>
              <a:t>Compression is happening</a:t>
            </a:r>
          </a:p>
        </p:txBody>
      </p:sp>
      <p:sp>
        <p:nvSpPr>
          <p:cNvPr id="28" name="Rectangle 27"/>
          <p:cNvSpPr/>
          <p:nvPr/>
        </p:nvSpPr>
        <p:spPr>
          <a:xfrm>
            <a:off x="6035040" y="5257800"/>
            <a:ext cx="5669280" cy="658368"/>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72200" y="5294376"/>
            <a:ext cx="1828800" cy="292608"/>
          </a:xfrm>
          <a:prstGeom prst="rect">
            <a:avLst/>
          </a:prstGeom>
          <a:noFill/>
        </p:spPr>
        <p:txBody>
          <a:bodyPr wrap="square">
            <a:spAutoFit/>
          </a:bodyPr>
          <a:lstStyle/>
          <a:p>
            <a:pPr algn="l"/>
            <a:r>
              <a:rPr sz="1300" b="0" i="0">
                <a:solidFill>
                  <a:srgbClr val="55657A"/>
                </a:solidFill>
              </a:rPr>
              <a:t>Epoch</a:t>
            </a:r>
          </a:p>
        </p:txBody>
      </p:sp>
      <p:sp>
        <p:nvSpPr>
          <p:cNvPr id="30" name="TextBox 29"/>
          <p:cNvSpPr txBox="1"/>
          <p:nvPr/>
        </p:nvSpPr>
        <p:spPr>
          <a:xfrm>
            <a:off x="8046720" y="5294376"/>
            <a:ext cx="1920240" cy="292608"/>
          </a:xfrm>
          <a:prstGeom prst="rect">
            <a:avLst/>
          </a:prstGeom>
          <a:noFill/>
        </p:spPr>
        <p:txBody>
          <a:bodyPr wrap="square">
            <a:spAutoFit/>
          </a:bodyPr>
          <a:lstStyle/>
          <a:p>
            <a:pPr algn="ctr"/>
            <a:r>
              <a:rPr sz="1400" b="1" i="0">
                <a:solidFill>
                  <a:srgbClr val="E87D14"/>
                </a:solidFill>
              </a:rPr>
              <a:t>1 033 / 10 000</a:t>
            </a:r>
          </a:p>
        </p:txBody>
      </p:sp>
      <p:sp>
        <p:nvSpPr>
          <p:cNvPr id="31" name="TextBox 30"/>
          <p:cNvSpPr txBox="1"/>
          <p:nvPr/>
        </p:nvSpPr>
        <p:spPr>
          <a:xfrm>
            <a:off x="6172200" y="5605272"/>
            <a:ext cx="5486400" cy="256032"/>
          </a:xfrm>
          <a:prstGeom prst="rect">
            <a:avLst/>
          </a:prstGeom>
          <a:noFill/>
        </p:spPr>
        <p:txBody>
          <a:bodyPr wrap="square">
            <a:spAutoFit/>
          </a:bodyPr>
          <a:lstStyle/>
          <a:p>
            <a:pPr algn="l"/>
            <a:r>
              <a:rPr sz="1100" b="0" i="1">
                <a:solidFill>
                  <a:srgbClr val="55657A"/>
                </a:solidFill>
              </a:rPr>
              <a:t>Still running — results will improve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800" b="1">
                <a:solidFill>
                  <a:srgbClr val="FFFFFF"/>
                </a:solidFill>
              </a:rPr>
              <a:t>Analysis — Why Latent Noise Helps</a:t>
            </a:r>
          </a:p>
          <a:p>
            <a:pPr algn="l"/>
            <a:r>
              <a:rPr sz="1400">
                <a:solidFill>
                  <a:srgbClr val="CCDDFF"/>
                </a:solidFill>
              </a:rPr>
              <a:t>Mechanistic explanation and interpretation of the gap reduction</a:t>
            </a:r>
          </a:p>
        </p:txBody>
      </p:sp>
      <p:sp>
        <p:nvSpPr>
          <p:cNvPr id="3" name="Rectangle 2"/>
          <p:cNvSpPr/>
          <p:nvPr/>
        </p:nvSpPr>
        <p:spPr>
          <a:xfrm>
            <a:off x="274320" y="1234440"/>
            <a:ext cx="5669280" cy="242316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98448"/>
            <a:ext cx="5394960" cy="320040"/>
          </a:xfrm>
          <a:prstGeom prst="rect">
            <a:avLst/>
          </a:prstGeom>
          <a:noFill/>
        </p:spPr>
        <p:txBody>
          <a:bodyPr wrap="square">
            <a:spAutoFit/>
          </a:bodyPr>
          <a:lstStyle/>
          <a:p>
            <a:pPr algn="l"/>
            <a:r>
              <a:rPr sz="1500" b="1" i="0">
                <a:solidFill>
                  <a:srgbClr val="C0392B"/>
                </a:solidFill>
              </a:rPr>
              <a:t>Without noise (baseline BN)</a:t>
            </a:r>
          </a:p>
        </p:txBody>
      </p:sp>
      <p:sp>
        <p:nvSpPr>
          <p:cNvPr id="5" name="TextBox 4"/>
          <p:cNvSpPr txBox="1"/>
          <p:nvPr/>
        </p:nvSpPr>
        <p:spPr>
          <a:xfrm>
            <a:off x="457200" y="1691640"/>
            <a:ext cx="5394960" cy="1920240"/>
          </a:xfrm>
          <a:prstGeom prst="rect">
            <a:avLst/>
          </a:prstGeom>
          <a:noFill/>
        </p:spPr>
        <p:txBody>
          <a:bodyPr wrap="square">
            <a:spAutoFit/>
          </a:bodyPr>
          <a:lstStyle/>
          <a:p>
            <a:pPr algn="l"/>
            <a:r>
              <a:rPr sz="1400" b="0">
                <a:solidFill>
                  <a:srgbClr val="1A1A2E"/>
                </a:solidFill>
              </a:rPr>
              <a:t>•  The encoder maps each training sample to a precise, tight latent code. The decoder memorises the mapping from these exact codes → designs.</a:t>
            </a:r>
          </a:p>
          <a:p>
            <a:pPr algn="l"/>
            <a:r>
              <a:rPr sz="1400" b="0">
                <a:solidFill>
                  <a:srgbClr val="1A1A2E"/>
                </a:solidFill>
              </a:rPr>
              <a:t>•  For a val sample, the encoder outputs a slightly different code (distribution shift). The decoder, trained only on tight codes, produces large errors.</a:t>
            </a:r>
          </a:p>
          <a:p>
            <a:pPr algn="l"/>
            <a:r>
              <a:rPr sz="1400" b="0">
                <a:solidFill>
                  <a:srgbClr val="1A1A2E"/>
                </a:solidFill>
              </a:rPr>
              <a:t>•  Result: train rec → 0, val rec stays at 0.033. The 80× gap is the encoder memorising, not learning a generalisable representation.</a:t>
            </a:r>
          </a:p>
        </p:txBody>
      </p:sp>
      <p:sp>
        <p:nvSpPr>
          <p:cNvPr id="6" name="Rectangle 5"/>
          <p:cNvSpPr/>
          <p:nvPr/>
        </p:nvSpPr>
        <p:spPr>
          <a:xfrm>
            <a:off x="274320" y="3794760"/>
            <a:ext cx="5669280" cy="251460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3858768"/>
            <a:ext cx="5394960" cy="320040"/>
          </a:xfrm>
          <a:prstGeom prst="rect">
            <a:avLst/>
          </a:prstGeom>
          <a:noFill/>
        </p:spPr>
        <p:txBody>
          <a:bodyPr wrap="square">
            <a:spAutoFit/>
          </a:bodyPr>
          <a:lstStyle/>
          <a:p>
            <a:pPr algn="l"/>
            <a:r>
              <a:rPr sz="1500" b="1" i="0">
                <a:solidFill>
                  <a:srgbClr val="0A7D57"/>
                </a:solidFill>
              </a:rPr>
              <a:t>With noise (σ = 0.1)</a:t>
            </a:r>
          </a:p>
        </p:txBody>
      </p:sp>
      <p:sp>
        <p:nvSpPr>
          <p:cNvPr id="8" name="TextBox 7"/>
          <p:cNvSpPr txBox="1"/>
          <p:nvPr/>
        </p:nvSpPr>
        <p:spPr>
          <a:xfrm>
            <a:off x="457200" y="4251960"/>
            <a:ext cx="5394960" cy="1965960"/>
          </a:xfrm>
          <a:prstGeom prst="rect">
            <a:avLst/>
          </a:prstGeom>
          <a:noFill/>
        </p:spPr>
        <p:txBody>
          <a:bodyPr wrap="square">
            <a:spAutoFit/>
          </a:bodyPr>
          <a:lstStyle/>
          <a:p>
            <a:pPr algn="l"/>
            <a:r>
              <a:rPr sz="1400" b="0">
                <a:solidFill>
                  <a:srgbClr val="1A1A2E"/>
                </a:solidFill>
              </a:rPr>
              <a:t>•  At every training step, Gaussian noise is added to z before decoding. The decoder never sees the same code twice for the same sample.</a:t>
            </a:r>
          </a:p>
          <a:p>
            <a:pPr algn="l"/>
            <a:r>
              <a:rPr sz="1400" b="0">
                <a:solidFill>
                  <a:srgbClr val="1A1A2E"/>
                </a:solidFill>
              </a:rPr>
              <a:t>•  The decoder is forced to learn: 'any code near the encoder output should reconstruct this design.' This is neighbourhood robustness.</a:t>
            </a:r>
          </a:p>
          <a:p>
            <a:pPr algn="l"/>
            <a:r>
              <a:rPr sz="1400" b="0">
                <a:solidFill>
                  <a:srgbClr val="1A1A2E"/>
                </a:solidFill>
              </a:rPr>
              <a:t>•  Result: train rec stays at 0.0086 (decoder can't memorise exact codes). Val rec improves to 0.031 because the decoder handles imprecise codes gracefully.</a:t>
            </a:r>
          </a:p>
          <a:p>
            <a:pPr algn="l"/>
            <a:r>
              <a:rPr sz="1400" b="0">
                <a:solidFill>
                  <a:srgbClr val="1A1A2E"/>
                </a:solidFill>
              </a:rPr>
              <a:t>•  The gap drops from 80× → 3.65×. Volume activates at epoch 1033 with 69 active dims already pruned.</a:t>
            </a:r>
          </a:p>
        </p:txBody>
      </p:sp>
      <p:sp>
        <p:nvSpPr>
          <p:cNvPr id="9" name="Rectangle 8"/>
          <p:cNvSpPr/>
          <p:nvPr/>
        </p:nvSpPr>
        <p:spPr>
          <a:xfrm>
            <a:off x="6126480" y="1234440"/>
            <a:ext cx="5760720" cy="507492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60" y="1298448"/>
            <a:ext cx="5486400" cy="320040"/>
          </a:xfrm>
          <a:prstGeom prst="rect">
            <a:avLst/>
          </a:prstGeom>
          <a:noFill/>
        </p:spPr>
        <p:txBody>
          <a:bodyPr wrap="square">
            <a:spAutoFit/>
          </a:bodyPr>
          <a:lstStyle/>
          <a:p>
            <a:pPr algn="l"/>
            <a:r>
              <a:rPr sz="1500" b="1" i="0">
                <a:solidFill>
                  <a:srgbClr val="1F6FEB"/>
                </a:solidFill>
              </a:rPr>
              <a:t>Design choices — why these values?</a:t>
            </a:r>
          </a:p>
        </p:txBody>
      </p:sp>
      <p:sp>
        <p:nvSpPr>
          <p:cNvPr id="11" name="TextBox 10"/>
          <p:cNvSpPr txBox="1"/>
          <p:nvPr/>
        </p:nvSpPr>
        <p:spPr>
          <a:xfrm>
            <a:off x="6309360" y="1691640"/>
            <a:ext cx="5486400" cy="4526280"/>
          </a:xfrm>
          <a:prstGeom prst="rect">
            <a:avLst/>
          </a:prstGeom>
          <a:noFill/>
        </p:spPr>
        <p:txBody>
          <a:bodyPr wrap="square">
            <a:spAutoFit/>
          </a:bodyPr>
          <a:lstStyle/>
          <a:p>
            <a:pPr algn="l"/>
            <a:r>
              <a:rPr sz="1400" b="0">
                <a:solidFill>
                  <a:srgbClr val="1A1A2E"/>
                </a:solidFill>
              </a:rPr>
              <a:t>•  σ = 0.1  — conservative. Large σ can destabilise training; small σ has no effect. 0.1 ≈ 10% of a typical latent std.</a:t>
            </a:r>
          </a:p>
          <a:p>
            <a:pPr algn="l"/>
            <a:r>
              <a:rPr sz="600" b="0">
                <a:solidFill>
                  <a:srgbClr val="1A1A2E"/>
                </a:solidFill>
              </a:rPr>
              <a:t>    </a:t>
            </a:r>
          </a:p>
          <a:p>
            <a:pPr algn="l"/>
            <a:r>
              <a:rPr sz="1400" b="0">
                <a:solidFill>
                  <a:srgbClr val="1A1A2E"/>
                </a:solidFill>
              </a:rPr>
              <a:t>•  Noise only on active dims — pruned dimensions are frozen at their mean. Adding noise to already-zeroed dims would interfere with the pruning signal.</a:t>
            </a:r>
          </a:p>
          <a:p>
            <a:pPr algn="l"/>
            <a:r>
              <a:rPr sz="600" b="0">
                <a:solidFill>
                  <a:srgbClr val="1A1A2E"/>
                </a:solidFill>
              </a:rPr>
              <a:t>    </a:t>
            </a:r>
          </a:p>
          <a:p>
            <a:pPr algn="l"/>
            <a:r>
              <a:rPr sz="1400" b="0">
                <a:solidFill>
                  <a:srgbClr val="1A1A2E"/>
                </a:solidFill>
              </a:rPr>
              <a:t>•  Clean z for volume + pruning — the volume loss and EMA statistics use the noiseless z, so compression is driven by the true latent distribution, not an artificially noisy one.</a:t>
            </a:r>
          </a:p>
          <a:p>
            <a:pPr algn="l"/>
            <a:r>
              <a:rPr sz="600" b="0">
                <a:solidFill>
                  <a:srgbClr val="1A1A2E"/>
                </a:solidFill>
              </a:rPr>
              <a:t>    </a:t>
            </a:r>
          </a:p>
          <a:p>
            <a:pPr algn="l"/>
            <a:r>
              <a:rPr sz="1400" b="0">
                <a:solidFill>
                  <a:srgbClr val="1A1A2E"/>
                </a:solidFill>
              </a:rPr>
              <a:t>•  Noise off at eval — val and test always use the clean encoder output, so val rec is a fair measure of generalisation.</a:t>
            </a:r>
          </a:p>
          <a:p>
            <a:pPr algn="l"/>
            <a:r>
              <a:rPr sz="600" b="0">
                <a:solidFill>
                  <a:srgbClr val="1A1A2E"/>
                </a:solidFill>
              </a:rPr>
              <a:t>    </a:t>
            </a:r>
          </a:p>
          <a:p>
            <a:pPr algn="l"/>
            <a:r>
              <a:rPr sz="1400" b="0">
                <a:solidFill>
                  <a:srgbClr val="55657A"/>
                </a:solidFill>
              </a:rPr>
              <a:t>•  Analogy: Dropout in the latent space. Just as dropout prevents co-adaptation of neurons, latent noise prevents the decoder from relying on exact codes.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800" b="1">
                <a:solidFill>
                  <a:srgbClr val="FFFFFF"/>
                </a:solidFill>
              </a:rPr>
              <a:t>Val vs Train Reconstruction Error — Visual Comparison</a:t>
            </a:r>
          </a:p>
          <a:p>
            <a:pPr algn="l"/>
            <a:r>
              <a:rPr sz="1400">
                <a:solidFill>
                  <a:srgbClr val="CCDDFF"/>
                </a:solidFill>
              </a:rPr>
              <a:t>All three runs  ·  same scale  ·  val rec is the primary generalisation metric</a:t>
            </a:r>
          </a:p>
        </p:txBody>
      </p:sp>
      <p:sp>
        <p:nvSpPr>
          <p:cNvPr id="3" name="Rectangle 2"/>
          <p:cNvSpPr/>
          <p:nvPr/>
        </p:nvSpPr>
        <p:spPr>
          <a:xfrm>
            <a:off x="1325880" y="1463040"/>
            <a:ext cx="9966960" cy="3703320"/>
          </a:xfrm>
          <a:prstGeom prst="rect">
            <a:avLst/>
          </a:prstGeom>
          <a:solidFill>
            <a:srgbClr val="F2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5120640"/>
            <a:ext cx="9875520" cy="1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4992624"/>
            <a:ext cx="804672" cy="274320"/>
          </a:xfrm>
          <a:prstGeom prst="rect">
            <a:avLst/>
          </a:prstGeom>
          <a:noFill/>
        </p:spPr>
        <p:txBody>
          <a:bodyPr wrap="square">
            <a:spAutoFit/>
          </a:bodyPr>
          <a:lstStyle/>
          <a:p>
            <a:pPr algn="r"/>
            <a:r>
              <a:rPr sz="1100" b="0" i="0">
                <a:solidFill>
                  <a:srgbClr val="55657A"/>
                </a:solidFill>
              </a:rPr>
              <a:t>0</a:t>
            </a:r>
          </a:p>
        </p:txBody>
      </p:sp>
      <p:sp>
        <p:nvSpPr>
          <p:cNvPr id="6" name="Rectangle 5"/>
          <p:cNvSpPr/>
          <p:nvPr/>
        </p:nvSpPr>
        <p:spPr>
          <a:xfrm>
            <a:off x="1371600" y="4206240"/>
            <a:ext cx="9875520" cy="1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4078224"/>
            <a:ext cx="804672" cy="274320"/>
          </a:xfrm>
          <a:prstGeom prst="rect">
            <a:avLst/>
          </a:prstGeom>
          <a:noFill/>
        </p:spPr>
        <p:txBody>
          <a:bodyPr wrap="square">
            <a:spAutoFit/>
          </a:bodyPr>
          <a:lstStyle/>
          <a:p>
            <a:pPr algn="r"/>
            <a:r>
              <a:rPr sz="1100" b="0" i="0">
                <a:solidFill>
                  <a:srgbClr val="55657A"/>
                </a:solidFill>
              </a:rPr>
              <a:t>0.010</a:t>
            </a:r>
          </a:p>
        </p:txBody>
      </p:sp>
      <p:sp>
        <p:nvSpPr>
          <p:cNvPr id="8" name="Rectangle 7"/>
          <p:cNvSpPr/>
          <p:nvPr/>
        </p:nvSpPr>
        <p:spPr>
          <a:xfrm>
            <a:off x="1371600" y="3291840"/>
            <a:ext cx="9875520" cy="1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3163824"/>
            <a:ext cx="804672" cy="274320"/>
          </a:xfrm>
          <a:prstGeom prst="rect">
            <a:avLst/>
          </a:prstGeom>
          <a:noFill/>
        </p:spPr>
        <p:txBody>
          <a:bodyPr wrap="square">
            <a:spAutoFit/>
          </a:bodyPr>
          <a:lstStyle/>
          <a:p>
            <a:pPr algn="r"/>
            <a:r>
              <a:rPr sz="1100" b="0" i="0">
                <a:solidFill>
                  <a:srgbClr val="55657A"/>
                </a:solidFill>
              </a:rPr>
              <a:t>0.020</a:t>
            </a:r>
          </a:p>
        </p:txBody>
      </p:sp>
      <p:sp>
        <p:nvSpPr>
          <p:cNvPr id="10" name="Rectangle 9"/>
          <p:cNvSpPr/>
          <p:nvPr/>
        </p:nvSpPr>
        <p:spPr>
          <a:xfrm>
            <a:off x="1371600" y="2377440"/>
            <a:ext cx="9875520" cy="1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2249424"/>
            <a:ext cx="804672" cy="274320"/>
          </a:xfrm>
          <a:prstGeom prst="rect">
            <a:avLst/>
          </a:prstGeom>
          <a:noFill/>
        </p:spPr>
        <p:txBody>
          <a:bodyPr wrap="square">
            <a:spAutoFit/>
          </a:bodyPr>
          <a:lstStyle/>
          <a:p>
            <a:pPr algn="r"/>
            <a:r>
              <a:rPr sz="1100" b="0" i="0">
                <a:solidFill>
                  <a:srgbClr val="55657A"/>
                </a:solidFill>
              </a:rPr>
              <a:t>0.030</a:t>
            </a:r>
          </a:p>
        </p:txBody>
      </p:sp>
      <p:sp>
        <p:nvSpPr>
          <p:cNvPr id="12" name="Rectangle 11"/>
          <p:cNvSpPr/>
          <p:nvPr/>
        </p:nvSpPr>
        <p:spPr>
          <a:xfrm>
            <a:off x="1371600" y="1463040"/>
            <a:ext cx="9875520" cy="127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1335024"/>
            <a:ext cx="804672" cy="274320"/>
          </a:xfrm>
          <a:prstGeom prst="rect">
            <a:avLst/>
          </a:prstGeom>
          <a:noFill/>
        </p:spPr>
        <p:txBody>
          <a:bodyPr wrap="square">
            <a:spAutoFit/>
          </a:bodyPr>
          <a:lstStyle/>
          <a:p>
            <a:pPr algn="r"/>
            <a:r>
              <a:rPr sz="1100" b="0" i="0">
                <a:solidFill>
                  <a:srgbClr val="55657A"/>
                </a:solidFill>
              </a:rPr>
              <a:t>0.040</a:t>
            </a:r>
          </a:p>
        </p:txBody>
      </p:sp>
      <p:sp>
        <p:nvSpPr>
          <p:cNvPr id="14" name="Rectangle 13"/>
          <p:cNvSpPr/>
          <p:nvPr/>
        </p:nvSpPr>
        <p:spPr>
          <a:xfrm>
            <a:off x="1755648" y="5083149"/>
            <a:ext cx="1188720" cy="37490"/>
          </a:xfrm>
          <a:prstGeom prst="rect">
            <a:avLst/>
          </a:prstGeom>
          <a:solidFill>
            <a:srgbClr val="0A7D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755648" y="4827117"/>
            <a:ext cx="1188720" cy="256032"/>
          </a:xfrm>
          <a:prstGeom prst="rect">
            <a:avLst/>
          </a:prstGeom>
          <a:noFill/>
        </p:spPr>
        <p:txBody>
          <a:bodyPr wrap="square">
            <a:spAutoFit/>
          </a:bodyPr>
          <a:lstStyle/>
          <a:p>
            <a:pPr algn="ctr"/>
            <a:r>
              <a:rPr sz="1000" b="1" i="0">
                <a:solidFill>
                  <a:srgbClr val="0A7D57"/>
                </a:solidFill>
              </a:rPr>
              <a:t>0.0004</a:t>
            </a:r>
          </a:p>
        </p:txBody>
      </p:sp>
      <p:sp>
        <p:nvSpPr>
          <p:cNvPr id="16" name="Rectangle 15"/>
          <p:cNvSpPr/>
          <p:nvPr/>
        </p:nvSpPr>
        <p:spPr>
          <a:xfrm>
            <a:off x="3090672" y="2094890"/>
            <a:ext cx="1188720" cy="3025749"/>
          </a:xfrm>
          <a:prstGeom prst="rect">
            <a:avLst/>
          </a:prstGeom>
          <a:solidFill>
            <a:srgbClr val="E87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090672" y="1838858"/>
            <a:ext cx="1188720" cy="256032"/>
          </a:xfrm>
          <a:prstGeom prst="rect">
            <a:avLst/>
          </a:prstGeom>
          <a:noFill/>
        </p:spPr>
        <p:txBody>
          <a:bodyPr wrap="square">
            <a:spAutoFit/>
          </a:bodyPr>
          <a:lstStyle/>
          <a:p>
            <a:pPr algn="ctr"/>
            <a:r>
              <a:rPr sz="1000" b="1" i="0">
                <a:solidFill>
                  <a:srgbClr val="E87D14"/>
                </a:solidFill>
              </a:rPr>
              <a:t>0.0331</a:t>
            </a:r>
          </a:p>
        </p:txBody>
      </p:sp>
      <p:sp>
        <p:nvSpPr>
          <p:cNvPr id="18" name="TextBox 17"/>
          <p:cNvSpPr txBox="1"/>
          <p:nvPr/>
        </p:nvSpPr>
        <p:spPr>
          <a:xfrm>
            <a:off x="1463040" y="5193792"/>
            <a:ext cx="3108960" cy="548640"/>
          </a:xfrm>
          <a:prstGeom prst="rect">
            <a:avLst/>
          </a:prstGeom>
          <a:noFill/>
        </p:spPr>
        <p:txBody>
          <a:bodyPr wrap="square">
            <a:spAutoFit/>
          </a:bodyPr>
          <a:lstStyle/>
          <a:p>
            <a:pPr algn="ctr"/>
            <a:r>
              <a:rPr sz="1200" b="0" i="0">
                <a:solidFill>
                  <a:srgbClr val="1A1A2E"/>
                </a:solidFill>
              </a:rPr>
              <a:t>Baseline
BN (ep 9999)</a:t>
            </a:r>
          </a:p>
        </p:txBody>
      </p:sp>
      <p:sp>
        <p:nvSpPr>
          <p:cNvPr id="19" name="Rectangle 18"/>
          <p:cNvSpPr/>
          <p:nvPr/>
        </p:nvSpPr>
        <p:spPr>
          <a:xfrm>
            <a:off x="5047488" y="2433218"/>
            <a:ext cx="1188720" cy="2687421"/>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47488" y="2177186"/>
            <a:ext cx="1188720" cy="256032"/>
          </a:xfrm>
          <a:prstGeom prst="rect">
            <a:avLst/>
          </a:prstGeom>
          <a:noFill/>
        </p:spPr>
        <p:txBody>
          <a:bodyPr wrap="square">
            <a:spAutoFit/>
          </a:bodyPr>
          <a:lstStyle/>
          <a:p>
            <a:pPr algn="ctr"/>
            <a:r>
              <a:rPr sz="1000" b="1" i="0">
                <a:solidFill>
                  <a:srgbClr val="1A1A2E"/>
                </a:solidFill>
              </a:rPr>
              <a:t>0.0294</a:t>
            </a:r>
          </a:p>
        </p:txBody>
      </p:sp>
      <p:sp>
        <p:nvSpPr>
          <p:cNvPr id="21" name="Rectangle 20"/>
          <p:cNvSpPr/>
          <p:nvPr/>
        </p:nvSpPr>
        <p:spPr>
          <a:xfrm>
            <a:off x="6382512" y="2152497"/>
            <a:ext cx="1188720" cy="2968142"/>
          </a:xfrm>
          <a:prstGeom prst="rect">
            <a:avLst/>
          </a:prstGeom>
          <a:solidFill>
            <a:srgbClr val="E87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82512" y="1896465"/>
            <a:ext cx="1188720" cy="256032"/>
          </a:xfrm>
          <a:prstGeom prst="rect">
            <a:avLst/>
          </a:prstGeom>
          <a:noFill/>
        </p:spPr>
        <p:txBody>
          <a:bodyPr wrap="square">
            <a:spAutoFit/>
          </a:bodyPr>
          <a:lstStyle/>
          <a:p>
            <a:pPr algn="ctr"/>
            <a:r>
              <a:rPr sz="1000" b="1" i="0">
                <a:solidFill>
                  <a:srgbClr val="E87D14"/>
                </a:solidFill>
              </a:rPr>
              <a:t>0.0325</a:t>
            </a:r>
          </a:p>
        </p:txBody>
      </p:sp>
      <p:sp>
        <p:nvSpPr>
          <p:cNvPr id="23" name="TextBox 22"/>
          <p:cNvSpPr txBox="1"/>
          <p:nvPr/>
        </p:nvSpPr>
        <p:spPr>
          <a:xfrm>
            <a:off x="4754880" y="5193792"/>
            <a:ext cx="3108960" cy="548640"/>
          </a:xfrm>
          <a:prstGeom prst="rect">
            <a:avLst/>
          </a:prstGeom>
          <a:noFill/>
        </p:spPr>
        <p:txBody>
          <a:bodyPr wrap="square">
            <a:spAutoFit/>
          </a:bodyPr>
          <a:lstStyle/>
          <a:p>
            <a:pPr algn="ctr"/>
            <a:r>
              <a:rPr sz="1200" b="0" i="0">
                <a:solidFill>
                  <a:srgbClr val="1A1A2E"/>
                </a:solidFill>
              </a:rPr>
              <a:t>GN encoder
(ep 57 ⚠)</a:t>
            </a:r>
          </a:p>
        </p:txBody>
      </p:sp>
      <p:sp>
        <p:nvSpPr>
          <p:cNvPr id="24" name="Rectangle 23"/>
          <p:cNvSpPr/>
          <p:nvPr/>
        </p:nvSpPr>
        <p:spPr>
          <a:xfrm>
            <a:off x="8339328" y="4338553"/>
            <a:ext cx="1188720" cy="782086"/>
          </a:xfrm>
          <a:prstGeom prst="rect">
            <a:avLst/>
          </a:prstGeom>
          <a:solidFill>
            <a:srgbClr val="E87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39328" y="4082521"/>
            <a:ext cx="1188720" cy="256032"/>
          </a:xfrm>
          <a:prstGeom prst="rect">
            <a:avLst/>
          </a:prstGeom>
          <a:noFill/>
        </p:spPr>
        <p:txBody>
          <a:bodyPr wrap="square">
            <a:spAutoFit/>
          </a:bodyPr>
          <a:lstStyle/>
          <a:p>
            <a:pPr algn="ctr"/>
            <a:r>
              <a:rPr sz="1000" b="1" i="0">
                <a:solidFill>
                  <a:srgbClr val="E87D14"/>
                </a:solidFill>
              </a:rPr>
              <a:t>0.0086</a:t>
            </a:r>
          </a:p>
        </p:txBody>
      </p:sp>
      <p:sp>
        <p:nvSpPr>
          <p:cNvPr id="26" name="Rectangle 25"/>
          <p:cNvSpPr/>
          <p:nvPr/>
        </p:nvSpPr>
        <p:spPr>
          <a:xfrm>
            <a:off x="9674352" y="2266797"/>
            <a:ext cx="1188720" cy="2853842"/>
          </a:xfrm>
          <a:prstGeom prst="rect">
            <a:avLst/>
          </a:prstGeom>
          <a:solidFill>
            <a:srgbClr val="0A7D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674352" y="2010765"/>
            <a:ext cx="1188720" cy="256032"/>
          </a:xfrm>
          <a:prstGeom prst="rect">
            <a:avLst/>
          </a:prstGeom>
          <a:noFill/>
        </p:spPr>
        <p:txBody>
          <a:bodyPr wrap="square">
            <a:spAutoFit/>
          </a:bodyPr>
          <a:lstStyle/>
          <a:p>
            <a:pPr algn="ctr"/>
            <a:r>
              <a:rPr sz="1000" b="1" i="0">
                <a:solidFill>
                  <a:srgbClr val="0A7D57"/>
                </a:solidFill>
              </a:rPr>
              <a:t>0.0312</a:t>
            </a:r>
          </a:p>
        </p:txBody>
      </p:sp>
      <p:sp>
        <p:nvSpPr>
          <p:cNvPr id="28" name="TextBox 27"/>
          <p:cNvSpPr txBox="1"/>
          <p:nvPr/>
        </p:nvSpPr>
        <p:spPr>
          <a:xfrm>
            <a:off x="8046720" y="5193792"/>
            <a:ext cx="3108960" cy="548640"/>
          </a:xfrm>
          <a:prstGeom prst="rect">
            <a:avLst/>
          </a:prstGeom>
          <a:noFill/>
        </p:spPr>
        <p:txBody>
          <a:bodyPr wrap="square">
            <a:spAutoFit/>
          </a:bodyPr>
          <a:lstStyle/>
          <a:p>
            <a:pPr algn="ctr"/>
            <a:r>
              <a:rPr sz="1200" b="0" i="0">
                <a:solidFill>
                  <a:srgbClr val="1A1A2E"/>
                </a:solidFill>
              </a:rPr>
              <a:t>GN + Noise
(ep 1033)</a:t>
            </a:r>
          </a:p>
        </p:txBody>
      </p:sp>
      <p:sp>
        <p:nvSpPr>
          <p:cNvPr id="29" name="Rectangle 28"/>
          <p:cNvSpPr/>
          <p:nvPr/>
        </p:nvSpPr>
        <p:spPr>
          <a:xfrm>
            <a:off x="4114800" y="5394960"/>
            <a:ext cx="320040" cy="2286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5394960"/>
            <a:ext cx="1371600" cy="228600"/>
          </a:xfrm>
          <a:prstGeom prst="rect">
            <a:avLst/>
          </a:prstGeom>
          <a:noFill/>
        </p:spPr>
        <p:txBody>
          <a:bodyPr wrap="square">
            <a:spAutoFit/>
          </a:bodyPr>
          <a:lstStyle/>
          <a:p>
            <a:pPr algn="l"/>
            <a:r>
              <a:rPr sz="1200" b="0" i="0">
                <a:solidFill>
                  <a:srgbClr val="1A1A2E"/>
                </a:solidFill>
              </a:rPr>
              <a:t>Train rec</a:t>
            </a:r>
          </a:p>
        </p:txBody>
      </p:sp>
      <p:sp>
        <p:nvSpPr>
          <p:cNvPr id="31" name="Rectangle 30"/>
          <p:cNvSpPr/>
          <p:nvPr/>
        </p:nvSpPr>
        <p:spPr>
          <a:xfrm>
            <a:off x="5943600" y="5394960"/>
            <a:ext cx="320040" cy="22860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5394960"/>
            <a:ext cx="1371600" cy="228600"/>
          </a:xfrm>
          <a:prstGeom prst="rect">
            <a:avLst/>
          </a:prstGeom>
          <a:noFill/>
        </p:spPr>
        <p:txBody>
          <a:bodyPr wrap="square">
            <a:spAutoFit/>
          </a:bodyPr>
          <a:lstStyle/>
          <a:p>
            <a:pPr algn="l"/>
            <a:r>
              <a:rPr sz="1200" b="0" i="0">
                <a:solidFill>
                  <a:srgbClr val="1A1A2E"/>
                </a:solidFill>
              </a:rPr>
              <a:t>Val rec</a:t>
            </a:r>
          </a:p>
        </p:txBody>
      </p:sp>
      <p:sp>
        <p:nvSpPr>
          <p:cNvPr id="33" name="TextBox 32"/>
          <p:cNvSpPr txBox="1"/>
          <p:nvPr/>
        </p:nvSpPr>
        <p:spPr>
          <a:xfrm>
            <a:off x="274320" y="6217920"/>
            <a:ext cx="11612880" cy="320040"/>
          </a:xfrm>
          <a:prstGeom prst="rect">
            <a:avLst/>
          </a:prstGeom>
          <a:noFill/>
        </p:spPr>
        <p:txBody>
          <a:bodyPr wrap="square">
            <a:spAutoFit/>
          </a:bodyPr>
          <a:lstStyle/>
          <a:p>
            <a:pPr algn="l"/>
            <a:r>
              <a:rPr sz="1100" b="0" i="1">
                <a:solidFill>
                  <a:srgbClr val="55657A"/>
                </a:solidFill>
              </a:rPr>
              <a:t>Note: GN encoder (ep 57) bars show underfitting, not generalisation — both values high because training stopped before convergence.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800" b="1">
                <a:solidFill>
                  <a:srgbClr val="FFFFFF"/>
                </a:solidFill>
              </a:rPr>
              <a:t>Projections — What to Expect When the Run Completes</a:t>
            </a:r>
          </a:p>
          <a:p>
            <a:pPr algn="l"/>
            <a:r>
              <a:rPr sz="1400">
                <a:solidFill>
                  <a:srgbClr val="CCDDFF"/>
                </a:solidFill>
              </a:rPr>
              <a:t>GN + Noise run  ·  currently ep 1033 / 10 000  ·  early stopping from ep 2000</a:t>
            </a:r>
          </a:p>
        </p:txBody>
      </p:sp>
      <p:sp>
        <p:nvSpPr>
          <p:cNvPr id="3" name="Rectangle 2"/>
          <p:cNvSpPr/>
          <p:nvPr/>
        </p:nvSpPr>
        <p:spPr>
          <a:xfrm>
            <a:off x="274320" y="1234440"/>
            <a:ext cx="5669280" cy="521208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298448"/>
            <a:ext cx="5394960" cy="320040"/>
          </a:xfrm>
          <a:prstGeom prst="rect">
            <a:avLst/>
          </a:prstGeom>
          <a:noFill/>
        </p:spPr>
        <p:txBody>
          <a:bodyPr wrap="square">
            <a:spAutoFit/>
          </a:bodyPr>
          <a:lstStyle/>
          <a:p>
            <a:pPr algn="l"/>
            <a:r>
              <a:rPr sz="1500" b="1" i="0">
                <a:solidFill>
                  <a:srgbClr val="1F6FEB"/>
                </a:solidFill>
              </a:rPr>
              <a:t>Likely trajectory</a:t>
            </a:r>
          </a:p>
        </p:txBody>
      </p:sp>
      <p:sp>
        <p:nvSpPr>
          <p:cNvPr id="5" name="TextBox 4"/>
          <p:cNvSpPr txBox="1"/>
          <p:nvPr/>
        </p:nvSpPr>
        <p:spPr>
          <a:xfrm>
            <a:off x="457200" y="1691640"/>
            <a:ext cx="5394960" cy="4663440"/>
          </a:xfrm>
          <a:prstGeom prst="rect">
            <a:avLst/>
          </a:prstGeom>
          <a:noFill/>
        </p:spPr>
        <p:txBody>
          <a:bodyPr wrap="square">
            <a:spAutoFit/>
          </a:bodyPr>
          <a:lstStyle/>
          <a:p>
            <a:pPr algn="l"/>
            <a:r>
              <a:rPr sz="1400" b="0">
                <a:solidFill>
                  <a:srgbClr val="1A1A2E"/>
                </a:solidFill>
              </a:rPr>
              <a:t>1. Train rec will keep decreasing slowly (noise prevents zero, but the model continues to improve).</a:t>
            </a:r>
          </a:p>
          <a:p>
            <a:pPr algn="l"/>
            <a:r>
              <a:rPr sz="600" b="0">
                <a:solidFill>
                  <a:srgbClr val="1A1A2E"/>
                </a:solidFill>
              </a:rPr>
              <a:t>   </a:t>
            </a:r>
          </a:p>
          <a:p>
            <a:pPr algn="l"/>
            <a:r>
              <a:rPr sz="1400" b="0">
                <a:solidFill>
                  <a:srgbClr val="1A1A2E"/>
                </a:solidFill>
              </a:rPr>
              <a:t>2. Val rec may decrease further or plateau. The current 0.031 is already the best observed — if it drops below 0.025 that would be a strong result.</a:t>
            </a:r>
          </a:p>
          <a:p>
            <a:pPr algn="l"/>
            <a:r>
              <a:rPr sz="600" b="0">
                <a:solidFill>
                  <a:srgbClr val="1A1A2E"/>
                </a:solidFill>
              </a:rPr>
              <a:t>   </a:t>
            </a:r>
          </a:p>
          <a:p>
            <a:pPr algn="l"/>
            <a:r>
              <a:rPr sz="1400" b="0">
                <a:solidFill>
                  <a:srgbClr val="1A1A2E"/>
                </a:solidFill>
              </a:rPr>
              <a:t>3. Active dims will continue decreasing as vol pressure prunes more dimensions. If val rec stays low, pruning should be more aggressive than the baseline (65 dims).</a:t>
            </a:r>
          </a:p>
          <a:p>
            <a:pPr algn="l"/>
            <a:r>
              <a:rPr sz="600" b="0">
                <a:solidFill>
                  <a:srgbClr val="1A1A2E"/>
                </a:solidFill>
              </a:rPr>
              <a:t>   </a:t>
            </a:r>
          </a:p>
          <a:p>
            <a:pPr algn="l"/>
            <a:r>
              <a:rPr sz="1400" b="0">
                <a:solidFill>
                  <a:srgbClr val="1A1A2E"/>
                </a:solidFill>
              </a:rPr>
              <a:t>4. Early stopping (from ep 2000, patience 50) will stop the run once val rec stops improving. This is the right termination criterion.</a:t>
            </a:r>
          </a:p>
          <a:p>
            <a:pPr algn="l"/>
            <a:r>
              <a:rPr sz="600" b="0">
                <a:solidFill>
                  <a:srgbClr val="1A1A2E"/>
                </a:solidFill>
              </a:rPr>
              <a:t>   </a:t>
            </a:r>
          </a:p>
          <a:p>
            <a:pPr algn="l"/>
            <a:r>
              <a:rPr sz="1400" b="0">
                <a:solidFill>
                  <a:srgbClr val="0A7D57"/>
                </a:solidFill>
              </a:rPr>
              <a:t>5. If val rec stops improving around 0.030–0.032 with 50–70 active dims, the noise run is strictly better than the baseline in terms of generalisation quality.</a:t>
            </a:r>
          </a:p>
          <a:p>
            <a:pPr algn="l"/>
            <a:r>
              <a:rPr sz="600" b="0">
                <a:solidFill>
                  <a:srgbClr val="1A1A2E"/>
                </a:solidFill>
              </a:rPr>
              <a:t>   </a:t>
            </a:r>
          </a:p>
          <a:p>
            <a:pPr algn="l"/>
            <a:r>
              <a:rPr sz="1400" b="0">
                <a:solidFill>
                  <a:srgbClr val="E87D14"/>
                </a:solidFill>
              </a:rPr>
              <a:t>6. Risk: if the gap remains at 3.65× until the end, it means the encoder still overfits and we need stronger regularisation (orthogonality + val gate combined).</a:t>
            </a:r>
          </a:p>
        </p:txBody>
      </p:sp>
      <p:sp>
        <p:nvSpPr>
          <p:cNvPr id="6" name="Rectangle 5"/>
          <p:cNvSpPr/>
          <p:nvPr/>
        </p:nvSpPr>
        <p:spPr>
          <a:xfrm>
            <a:off x="6126480" y="1234440"/>
            <a:ext cx="5760720" cy="521208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09360" y="1298448"/>
            <a:ext cx="5486400" cy="320040"/>
          </a:xfrm>
          <a:prstGeom prst="rect">
            <a:avLst/>
          </a:prstGeom>
          <a:noFill/>
        </p:spPr>
        <p:txBody>
          <a:bodyPr wrap="square">
            <a:spAutoFit/>
          </a:bodyPr>
          <a:lstStyle/>
          <a:p>
            <a:pPr algn="l"/>
            <a:r>
              <a:rPr sz="1500" b="1" i="0">
                <a:solidFill>
                  <a:srgbClr val="1F6FEB"/>
                </a:solidFill>
              </a:rPr>
              <a:t>Missing ablation: GN alone</a:t>
            </a:r>
          </a:p>
        </p:txBody>
      </p:sp>
      <p:sp>
        <p:nvSpPr>
          <p:cNvPr id="8" name="TextBox 7"/>
          <p:cNvSpPr txBox="1"/>
          <p:nvPr/>
        </p:nvSpPr>
        <p:spPr>
          <a:xfrm>
            <a:off x="6309360" y="1691640"/>
            <a:ext cx="5486400" cy="4663440"/>
          </a:xfrm>
          <a:prstGeom prst="rect">
            <a:avLst/>
          </a:prstGeom>
          <a:noFill/>
        </p:spPr>
        <p:txBody>
          <a:bodyPr wrap="square">
            <a:spAutoFit/>
          </a:bodyPr>
          <a:lstStyle/>
          <a:p>
            <a:pPr algn="l"/>
            <a:r>
              <a:rPr sz="1400" b="1">
                <a:solidFill>
                  <a:srgbClr val="E87D14"/>
                </a:solidFill>
              </a:rPr>
              <a:t>⚠  The GN encoder run (without noise) stopped at epoch 57 — too early to be useful.</a:t>
            </a:r>
          </a:p>
          <a:p>
            <a:pPr algn="l"/>
            <a:r>
              <a:rPr sz="600" b="0">
                <a:solidFill>
                  <a:srgbClr val="1A1A2E"/>
                </a:solidFill>
              </a:rPr>
              <a:t>   </a:t>
            </a:r>
          </a:p>
          <a:p>
            <a:pPr algn="l"/>
            <a:r>
              <a:rPr sz="1400" b="0">
                <a:solidFill>
                  <a:srgbClr val="1A1A2E"/>
                </a:solidFill>
              </a:rPr>
              <a:t>   To properly isolate the effect of latent noise, we need a GN-only run that converges with the same early stopping settings.</a:t>
            </a:r>
          </a:p>
          <a:p>
            <a:pPr algn="l"/>
            <a:r>
              <a:rPr sz="600" b="0">
                <a:solidFill>
                  <a:srgbClr val="1A1A2E"/>
                </a:solidFill>
              </a:rPr>
              <a:t>   </a:t>
            </a:r>
          </a:p>
          <a:p>
            <a:pPr algn="l"/>
            <a:r>
              <a:rPr sz="1400" b="1">
                <a:solidFill>
                  <a:srgbClr val="1F6FEB"/>
                </a:solidFill>
              </a:rPr>
              <a:t>   Proposed re-run config:</a:t>
            </a:r>
          </a:p>
          <a:p>
            <a:pPr algn="l"/>
            <a:r>
              <a:rPr sz="1300" b="0">
                <a:solidFill>
                  <a:srgbClr val="55657A"/>
                </a:solidFill>
              </a:rPr>
              <a:t>   • early_stopping_start_epoch = 2000</a:t>
            </a:r>
          </a:p>
          <a:p>
            <a:pPr algn="l"/>
            <a:r>
              <a:rPr sz="1300" b="0">
                <a:solidFill>
                  <a:srgbClr val="55657A"/>
                </a:solidFill>
              </a:rPr>
              <a:t>   • patience = 50</a:t>
            </a:r>
          </a:p>
          <a:p>
            <a:pPr algn="l"/>
            <a:r>
              <a:rPr sz="1300" b="0">
                <a:solidFill>
                  <a:srgbClr val="55657A"/>
                </a:solidFill>
              </a:rPr>
              <a:t>   • latent_noise_sigma = 0.0  (no noise)</a:t>
            </a:r>
          </a:p>
          <a:p>
            <a:pPr algn="l"/>
            <a:r>
              <a:rPr sz="1300" b="0">
                <a:solidFill>
                  <a:srgbClr val="55657A"/>
                </a:solidFill>
              </a:rPr>
              <a:t>   • all other params identical to noise run</a:t>
            </a:r>
          </a:p>
          <a:p>
            <a:pPr algn="l"/>
            <a:r>
              <a:rPr sz="600" b="0">
                <a:solidFill>
                  <a:srgbClr val="1A1A2E"/>
                </a:solidFill>
              </a:rPr>
              <a:t>   </a:t>
            </a:r>
          </a:p>
          <a:p>
            <a:pPr algn="l"/>
            <a:r>
              <a:rPr sz="1400" b="0">
                <a:solidFill>
                  <a:srgbClr val="1A1A2E"/>
                </a:solidFill>
              </a:rPr>
              <a:t>   This would let us answer: how much of the improvement is GN vs. how much is the noise?</a:t>
            </a:r>
          </a:p>
          <a:p>
            <a:pPr algn="l"/>
            <a:r>
              <a:rPr sz="600" b="0">
                <a:solidFill>
                  <a:srgbClr val="1A1A2E"/>
                </a:solidFill>
              </a:rPr>
              <a:t>   </a:t>
            </a:r>
          </a:p>
          <a:p>
            <a:pPr algn="l"/>
            <a:r>
              <a:rPr sz="1400" b="1">
                <a:solidFill>
                  <a:srgbClr val="1F6FEB"/>
                </a:solidFill>
              </a:rPr>
              <a:t>   For now, the fair comparison is:</a:t>
            </a:r>
          </a:p>
          <a:p>
            <a:pPr algn="l"/>
            <a:r>
              <a:rPr sz="1300" b="0">
                <a:solidFill>
                  <a:srgbClr val="55657A"/>
                </a:solidFill>
              </a:rPr>
              <a:t>   Baseline BN (fully trained) vs GN+Noise (ep 1033, running)</a:t>
            </a:r>
          </a:p>
          <a:p>
            <a:pPr algn="l"/>
            <a:r>
              <a:rPr sz="1300" b="1">
                <a:solidFill>
                  <a:srgbClr val="0A7D57"/>
                </a:solidFill>
              </a:rPr>
              <a:t>   → Val rec 0.033 → 0.031  ·  Gap 80× → 3.65×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88952" cy="10515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l"/>
            <a:r>
              <a:rPr sz="2800" b="1">
                <a:solidFill>
                  <a:srgbClr val="FFFFFF"/>
                </a:solidFill>
              </a:rPr>
              <a:t>Next Steps for the Vanilla LVAE Ablation</a:t>
            </a:r>
          </a:p>
          <a:p>
            <a:pPr algn="l"/>
            <a:r>
              <a:rPr sz="1400">
                <a:solidFill>
                  <a:srgbClr val="CCDDFF"/>
                </a:solidFill>
              </a:rPr>
              <a:t>In priority order</a:t>
            </a:r>
          </a:p>
        </p:txBody>
      </p:sp>
      <p:sp>
        <p:nvSpPr>
          <p:cNvPr id="3" name="Rectangle 2"/>
          <p:cNvSpPr/>
          <p:nvPr/>
        </p:nvSpPr>
        <p:spPr>
          <a:xfrm>
            <a:off x="274320" y="1325880"/>
            <a:ext cx="109728" cy="822960"/>
          </a:xfrm>
          <a:prstGeom prst="rect">
            <a:avLst/>
          </a:prstGeom>
          <a:solidFill>
            <a:srgbClr val="0A7D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34440"/>
            <a:ext cx="11430000" cy="100584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21792" y="1289304"/>
            <a:ext cx="10972800" cy="347472"/>
          </a:xfrm>
          <a:prstGeom prst="rect">
            <a:avLst/>
          </a:prstGeom>
          <a:noFill/>
        </p:spPr>
        <p:txBody>
          <a:bodyPr wrap="square">
            <a:spAutoFit/>
          </a:bodyPr>
          <a:lstStyle/>
          <a:p>
            <a:pPr algn="l"/>
            <a:r>
              <a:rPr sz="1400" b="1" i="0">
                <a:solidFill>
                  <a:srgbClr val="1A1A2E"/>
                </a:solidFill>
              </a:rPr>
              <a:t>1.  Wait for GN + Noise run to complete (ep 2000+)</a:t>
            </a:r>
          </a:p>
        </p:txBody>
      </p:sp>
      <p:sp>
        <p:nvSpPr>
          <p:cNvPr id="6" name="TextBox 5"/>
          <p:cNvSpPr txBox="1"/>
          <p:nvPr/>
        </p:nvSpPr>
        <p:spPr>
          <a:xfrm>
            <a:off x="621792" y="1664208"/>
            <a:ext cx="10972800" cy="548640"/>
          </a:xfrm>
          <a:prstGeom prst="rect">
            <a:avLst/>
          </a:prstGeom>
          <a:noFill/>
        </p:spPr>
        <p:txBody>
          <a:bodyPr wrap="square">
            <a:spAutoFit/>
          </a:bodyPr>
          <a:lstStyle/>
          <a:p>
            <a:pPr algn="l"/>
            <a:r>
              <a:rPr sz="1300" b="0" i="0">
                <a:solidFill>
                  <a:srgbClr val="55657A"/>
                </a:solidFill>
              </a:rPr>
              <a:t>The run is at epoch 1033. Early stopping from epoch 2000 will determine the final val rec and active dim count. This is the most important data point — wait before drawing conclusions.</a:t>
            </a:r>
          </a:p>
        </p:txBody>
      </p:sp>
      <p:sp>
        <p:nvSpPr>
          <p:cNvPr id="7" name="Rectangle 6"/>
          <p:cNvSpPr/>
          <p:nvPr/>
        </p:nvSpPr>
        <p:spPr>
          <a:xfrm>
            <a:off x="274320" y="2404872"/>
            <a:ext cx="109728" cy="822960"/>
          </a:xfrm>
          <a:prstGeom prst="rect">
            <a:avLst/>
          </a:prstGeom>
          <a:solidFill>
            <a:srgbClr val="E87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313432"/>
            <a:ext cx="11430000" cy="100584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368296"/>
            <a:ext cx="10972800" cy="347472"/>
          </a:xfrm>
          <a:prstGeom prst="rect">
            <a:avLst/>
          </a:prstGeom>
          <a:noFill/>
        </p:spPr>
        <p:txBody>
          <a:bodyPr wrap="square">
            <a:spAutoFit/>
          </a:bodyPr>
          <a:lstStyle/>
          <a:p>
            <a:pPr algn="l"/>
            <a:r>
              <a:rPr sz="1400" b="1" i="0">
                <a:solidFill>
                  <a:srgbClr val="1A1A2E"/>
                </a:solidFill>
              </a:rPr>
              <a:t>2.  Re-run GN encoder WITHOUT noise with correct early stopping</a:t>
            </a:r>
          </a:p>
        </p:txBody>
      </p:sp>
      <p:sp>
        <p:nvSpPr>
          <p:cNvPr id="10" name="TextBox 9"/>
          <p:cNvSpPr txBox="1"/>
          <p:nvPr/>
        </p:nvSpPr>
        <p:spPr>
          <a:xfrm>
            <a:off x="621792" y="2743200"/>
            <a:ext cx="10972800" cy="548640"/>
          </a:xfrm>
          <a:prstGeom prst="rect">
            <a:avLst/>
          </a:prstGeom>
          <a:noFill/>
        </p:spPr>
        <p:txBody>
          <a:bodyPr wrap="square">
            <a:spAutoFit/>
          </a:bodyPr>
          <a:lstStyle/>
          <a:p>
            <a:pPr algn="l"/>
            <a:r>
              <a:rPr sz="1300" b="0" i="0">
                <a:solidFill>
                  <a:srgbClr val="55657A"/>
                </a:solidFill>
              </a:rPr>
              <a:t>Use early_stopping_start_epoch=2000, patience=50, latent_noise_sigma=0.0. This gives the missing ablation point to isolate the effect of noise vs. the GN encoder change.</a:t>
            </a:r>
          </a:p>
        </p:txBody>
      </p:sp>
      <p:sp>
        <p:nvSpPr>
          <p:cNvPr id="11" name="Rectangle 10"/>
          <p:cNvSpPr/>
          <p:nvPr/>
        </p:nvSpPr>
        <p:spPr>
          <a:xfrm>
            <a:off x="274320" y="3483864"/>
            <a:ext cx="109728" cy="822960"/>
          </a:xfrm>
          <a:prstGeom prst="rect">
            <a:avLst/>
          </a:prstGeom>
          <a:solidFill>
            <a:srgbClr val="E87D1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3392424"/>
            <a:ext cx="11430000" cy="100584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3447288"/>
            <a:ext cx="10972800" cy="347472"/>
          </a:xfrm>
          <a:prstGeom prst="rect">
            <a:avLst/>
          </a:prstGeom>
          <a:noFill/>
        </p:spPr>
        <p:txBody>
          <a:bodyPr wrap="square">
            <a:spAutoFit/>
          </a:bodyPr>
          <a:lstStyle/>
          <a:p>
            <a:pPr algn="l"/>
            <a:r>
              <a:rPr sz="1400" b="1" i="0">
                <a:solidFill>
                  <a:srgbClr val="1A1A2E"/>
                </a:solidFill>
              </a:rPr>
              <a:t>3.  If val gap persists (&gt;2×): add val-gate to noise run</a:t>
            </a:r>
          </a:p>
        </p:txBody>
      </p:sp>
      <p:sp>
        <p:nvSpPr>
          <p:cNvPr id="14" name="TextBox 13"/>
          <p:cNvSpPr txBox="1"/>
          <p:nvPr/>
        </p:nvSpPr>
        <p:spPr>
          <a:xfrm>
            <a:off x="621792" y="3822192"/>
            <a:ext cx="10972800" cy="548640"/>
          </a:xfrm>
          <a:prstGeom prst="rect">
            <a:avLst/>
          </a:prstGeom>
          <a:noFill/>
        </p:spPr>
        <p:txBody>
          <a:bodyPr wrap="square">
            <a:spAutoFit/>
          </a:bodyPr>
          <a:lstStyle/>
          <a:p>
            <a:pPr algn="l"/>
            <a:r>
              <a:rPr sz="1300" b="0" i="0">
                <a:solidFill>
                  <a:srgbClr val="55657A"/>
                </a:solidFill>
              </a:rPr>
              <a:t>The val-gate variants are also running. If the val gate alone closes the gap further, the combination (GN + noise + val gate) may be the strongest regulariser.</a:t>
            </a:r>
          </a:p>
        </p:txBody>
      </p:sp>
      <p:sp>
        <p:nvSpPr>
          <p:cNvPr id="15" name="Rectangle 14"/>
          <p:cNvSpPr/>
          <p:nvPr/>
        </p:nvSpPr>
        <p:spPr>
          <a:xfrm>
            <a:off x="274320" y="4562856"/>
            <a:ext cx="109728" cy="82296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4471416"/>
            <a:ext cx="11430000" cy="100584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4526280"/>
            <a:ext cx="10972800" cy="347472"/>
          </a:xfrm>
          <a:prstGeom prst="rect">
            <a:avLst/>
          </a:prstGeom>
          <a:noFill/>
        </p:spPr>
        <p:txBody>
          <a:bodyPr wrap="square">
            <a:spAutoFit/>
          </a:bodyPr>
          <a:lstStyle/>
          <a:p>
            <a:pPr algn="l"/>
            <a:r>
              <a:rPr sz="1400" b="1" i="0">
                <a:solidFill>
                  <a:srgbClr val="1A1A2E"/>
                </a:solidFill>
              </a:rPr>
              <a:t>4.  Analyse active dim count at convergence</a:t>
            </a:r>
          </a:p>
        </p:txBody>
      </p:sp>
      <p:sp>
        <p:nvSpPr>
          <p:cNvPr id="18" name="TextBox 17"/>
          <p:cNvSpPr txBox="1"/>
          <p:nvPr/>
        </p:nvSpPr>
        <p:spPr>
          <a:xfrm>
            <a:off x="621792" y="4901184"/>
            <a:ext cx="10972800" cy="548640"/>
          </a:xfrm>
          <a:prstGeom prst="rect">
            <a:avLst/>
          </a:prstGeom>
          <a:noFill/>
        </p:spPr>
        <p:txBody>
          <a:bodyPr wrap="square">
            <a:spAutoFit/>
          </a:bodyPr>
          <a:lstStyle/>
          <a:p>
            <a:pPr algn="l"/>
            <a:r>
              <a:rPr sz="1300" b="0" i="0">
                <a:solidFill>
                  <a:srgbClr val="55657A"/>
                </a:solidFill>
              </a:rPr>
              <a:t>The baseline compressed to 65/100 dims. If the noise run converges at &lt;60 dims with better val rec, it means the model learned a more compact AND generalisable representation — a double win.</a:t>
            </a:r>
          </a:p>
        </p:txBody>
      </p:sp>
      <p:sp>
        <p:nvSpPr>
          <p:cNvPr id="19" name="Rectangle 18"/>
          <p:cNvSpPr/>
          <p:nvPr/>
        </p:nvSpPr>
        <p:spPr>
          <a:xfrm>
            <a:off x="274320" y="5641848"/>
            <a:ext cx="109728" cy="822960"/>
          </a:xfrm>
          <a:prstGeom prst="rect">
            <a:avLst/>
          </a:prstGeom>
          <a:solidFill>
            <a:srgbClr val="5565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5550408"/>
            <a:ext cx="11430000" cy="1005840"/>
          </a:xfrm>
          <a:prstGeom prst="rect">
            <a:avLst/>
          </a:prstGeom>
          <a:solidFill>
            <a:srgbClr val="F2F4F7"/>
          </a:solidFill>
          <a:ln w="19050">
            <a:solidFill>
              <a:srgbClr val="1F6F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1792" y="5605272"/>
            <a:ext cx="10972800" cy="347472"/>
          </a:xfrm>
          <a:prstGeom prst="rect">
            <a:avLst/>
          </a:prstGeom>
          <a:noFill/>
        </p:spPr>
        <p:txBody>
          <a:bodyPr wrap="square">
            <a:spAutoFit/>
          </a:bodyPr>
          <a:lstStyle/>
          <a:p>
            <a:pPr algn="l"/>
            <a:r>
              <a:rPr sz="1400" b="1" i="0">
                <a:solidFill>
                  <a:srgbClr val="1A1A2E"/>
                </a:solidFill>
              </a:rPr>
              <a:t>5.  Extend analysis to constrained LVAE and PLVAE</a:t>
            </a:r>
          </a:p>
        </p:txBody>
      </p:sp>
      <p:sp>
        <p:nvSpPr>
          <p:cNvPr id="22" name="TextBox 21"/>
          <p:cNvSpPr txBox="1"/>
          <p:nvPr/>
        </p:nvSpPr>
        <p:spPr>
          <a:xfrm>
            <a:off x="621792" y="5980176"/>
            <a:ext cx="10972800" cy="548640"/>
          </a:xfrm>
          <a:prstGeom prst="rect">
            <a:avLst/>
          </a:prstGeom>
          <a:noFill/>
        </p:spPr>
        <p:txBody>
          <a:bodyPr wrap="square">
            <a:spAutoFit/>
          </a:bodyPr>
          <a:lstStyle/>
          <a:p>
            <a:pPr algn="l"/>
            <a:r>
              <a:rPr sz="1300" b="0" i="0">
                <a:solidFill>
                  <a:srgbClr val="55657A"/>
                </a:solidFill>
              </a:rPr>
              <a:t>These ablations are for the vanilla LVAE. The constrained and PLVAE variants have their own noise runs running in parallel. Compare results across all three architectures to see if the benefit of noise is consistent.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