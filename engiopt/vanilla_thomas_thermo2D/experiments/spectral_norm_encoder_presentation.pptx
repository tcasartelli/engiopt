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LVAE for Thermoelastic 2D Topology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55657A"/>
                </a:solidFill>
              </a:rPr>
              <a:t>Reducing the train/val NMSE gap  ·  Exploring the latent dimensionality sweet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5657A"/>
                </a:solidFill>
              </a:rPr>
              <a:t>Thomas Casartelli  ·  April 2026  ·  EngiOpt / ETH Zürich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343400"/>
            <a:ext cx="5788152" cy="25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355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EngiOpt  ·  ETH Zürich  ·  IDEAL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Setting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Thermoelastic 2D topology optimisation  ·  IDEALLab/thermoelastic_2d_v1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566928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14 400 train  /  1 800 val  /  1 800 test  (18 000 total, v1)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Each design: 64×64 float32 density field in [0,1] — SIMP-relaxed binary topology.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Goal: minimise structural + thermal compliance under a volume fraction constraint.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Each sample has unique, randomly generated boundary conditions: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volfrac ∈ [0.2, 0.5]  ·  weight ∈ [0,1]  ·  load/fix/heatsink positions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→  High inter-sample diversity makes latent generalisation hard but ensures rich Var(data).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34440"/>
            <a:ext cx="57607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The LVAE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Autoencoder that minimises the geometric mean of latent std — compresses unused dimensions.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Volume pressure gated on NMSE ≤ τ, preventing compression before reconstruction is acceptable. NMSE = MSE / Var(data).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Plummet pruning (from epoch 500): detects and removes dimensions with sharply collapsed std.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Three variants tested: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Vanilla LVAE — rec loss only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Constrained LVAE — one-sided NMSE constraint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Constrained PLVAE — NMSE + performance predictor</a:t>
            </a:r>
          </a:p>
          <a:p>
            <a:pPr algn="l"/>
            <a:r>
              <a:rPr sz="1400" b="1">
                <a:solidFill>
                  <a:srgbClr val="1F6FEB"/>
                </a:solidFill>
              </a:rPr>
              <a:t>→  Key research question: what is the right latent dimensionality and threshold τ for this dataset?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The Core Problem: Train / Val NMSE Gap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The encoder memorises training data — volume pressure activates prematurely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3657600" cy="5212080"/>
          </a:xfrm>
          <a:prstGeom prst="rect">
            <a:avLst/>
          </a:prstGeom>
          <a:solidFill>
            <a:srgbClr val="FFF0F0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Observed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    Baseline BN encoder (ep 83, stopped early)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Val NMSE 0.171  /  Vol not activated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A1A2E"/>
                </a:solidFill>
              </a:rPr>
              <a:t>    GN + SN encoder (ep 2088)</a:t>
            </a:r>
          </a:p>
          <a:p>
            <a:pPr algn="l"/>
            <a:r>
              <a:rPr sz="1300" b="0">
                <a:solidFill>
                  <a:srgbClr val="C0392B"/>
                </a:solidFill>
              </a:rPr>
              <a:t>    Train NMSE 0.048 ✓  /  Val NMSE 0.197 ✗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Gap = 4.1×  /  Vol never activated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A1A2E"/>
                </a:solidFill>
              </a:rPr>
              <a:t>    Both with τ = 0.05 (default threshold)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    14 400 training samples: overfitting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    is NOT a small-dataset effect.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    It is a genuine encoder capacity issue.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234440"/>
            <a:ext cx="39319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37360"/>
            <a:ext cx="3657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•  Encoder maps training samples to tight, precise latent codes. For val samples, codes are noisier and less well-separated.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BN → GN swap eliminated train/eval statistics mismatch but left the gap unchanged: the problem is encoder capacity, not normalisation.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With τ=0.05, train NMSE satisfies the constraint while val NMSE stays at ~0.20. Volume activates on overfitting data → compresses a space that hasn't generalised.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4023360"/>
            <a:ext cx="3931920" cy="23774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4087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Key insight from τ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52628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•  τ is the most sensitive hyperparameter. Too low → vol never activates. Too high → over-compression.</a:t>
            </a:r>
          </a:p>
          <a:p>
            <a:pPr algn="l"/>
            <a:r>
              <a:rPr sz="1300" b="1">
                <a:solidFill>
                  <a:srgbClr val="0A7D57"/>
                </a:solidFill>
              </a:rPr>
              <a:t>★  τ = 0.20 is the sweet spot: vol activates reliably, pruning stays light, val NMSE minimised at 0.182.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356616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Strategies 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91440" cy="502920"/>
          </a:xfrm>
          <a:prstGeom prst="rect">
            <a:avLst/>
          </a:prstGeom>
          <a:solidFill>
            <a:srgbClr val="0A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58200" y="1737360"/>
            <a:ext cx="3383280" cy="50292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8288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1. GN + SN encoder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31720"/>
            <a:ext cx="91440" cy="502920"/>
          </a:xfrm>
          <a:prstGeom prst="rect">
            <a:avLst/>
          </a:prstGeom>
          <a:solidFill>
            <a:srgbClr val="0A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2331720"/>
            <a:ext cx="3383280" cy="50292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423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2. Latent noise  σ=0.1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926080"/>
            <a:ext cx="9144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58200" y="2926080"/>
            <a:ext cx="3383280" cy="50292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017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3. Val-gate  τ=0.05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520440"/>
            <a:ext cx="91440" cy="502920"/>
          </a:xfrm>
          <a:prstGeom prst="rect">
            <a:avLst/>
          </a:prstGeom>
          <a:solidFill>
            <a:srgbClr val="0A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200" y="3520440"/>
            <a:ext cx="3383280" cy="50292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4. τ sweep  (8 values)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114800"/>
            <a:ext cx="91440" cy="502920"/>
          </a:xfrm>
          <a:prstGeom prst="rect">
            <a:avLst/>
          </a:prstGeom>
          <a:solidFill>
            <a:srgbClr val="E8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58200" y="4114800"/>
            <a:ext cx="3383280" cy="50292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2062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5. τ=0.20 + noise  ← NEW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Strategy 1 — GN + Spectral Norm Encoder  [DONE]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Stabilise encoder output distribution  ·  necessary but insufficient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566928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WHY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BatchNorm computes running statistics on training data; at eval time these create a distribution shift in z. GroupNorm normalises using each sample's own channel statistics — no train/eval gap.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Spectral Normalisation re-scales each weight matrix so its largest singular value ≤ 1. Encoder becomes 1-Lipschitz: small input changes → equally small or smaller changes in z.</a:t>
            </a:r>
          </a:p>
          <a:p>
            <a:pPr algn="l"/>
            <a:r>
              <a:rPr sz="1400" b="0">
                <a:solidFill>
                  <a:srgbClr val="55657A"/>
                </a:solidFill>
              </a:rPr>
              <a:t>→  GN removes the artefact; SN bounds sensitivity. Together: a more stable and predictable latent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    cLVAE ep 2088:  train 0.048 ✓ / val 0.197 ✗  gap 4.1×  /  100/100 dims</a:t>
            </a:r>
          </a:p>
          <a:p>
            <a:pPr algn="l"/>
            <a:r>
              <a:rPr sz="1300" b="0">
                <a:solidFill>
                  <a:srgbClr val="C0392B"/>
                </a:solidFill>
              </a:rPr>
              <a:t>    LVAE ep 2050:   train rec 0.006 / val rec 0.034  gap 5.8×  /  90/100 dims</a:t>
            </a:r>
          </a:p>
          <a:p>
            <a:pPr algn="l"/>
            <a:r>
              <a:rPr sz="1300" b="0">
                <a:solidFill>
                  <a:srgbClr val="C0392B"/>
                </a:solidFill>
              </a:rPr>
              <a:t>    cPLVAE ep 2078: NMSE_rec 0.087 / val 0.304  gap 3.5×  /  vol never active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✗  Verdict: BN was NOT the root cause. Gap persists with 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34440"/>
            <a:ext cx="57607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The gap is intrinsic to the encoder's expressive capacity, not to normalisation artifacts.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With 14.4k diverse training samples, the encoder learns to map each sample to a tightly clustered latent region — but this precision doesn't transfer to val samples.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GN + SN is still correct and kept as the encoder standard: it eliminates one source of error and bounds sensitivity. All subsequent experiments use it.</a:t>
            </a:r>
          </a:p>
          <a:p>
            <a:pPr algn="l"/>
            <a:r>
              <a:rPr sz="1400" b="0">
                <a:solidFill>
                  <a:srgbClr val="55657A"/>
                </a:solidFill>
              </a:rPr>
              <a:t>→  Next needed: regularisation that directly constrains encoder overfitting, OR finding the right threshold τ so volume pressure activates at the right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Strategy 4 — NMSE Threshold Sweep  (τ ∈ {0.01 … 0.70})  [DONE]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Finding the dimensionality sweet spot  ·  8 values  ·  constrained LVAE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34440"/>
          <a:ext cx="83210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1371600"/>
                <a:gridCol w="1371600"/>
                <a:gridCol w="1280160"/>
                <a:gridCol w="2194560"/>
              </a:tblGrid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τ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Train NMSE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 NMSE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Active dims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Vol active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Regime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0.035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0.211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Unreachable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Unreachable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7D14"/>
                          </a:solidFill>
                        </a:rPr>
                        <a:t>0.198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7D14"/>
                          </a:solidFill>
                        </a:rPr>
                        <a:t>Borderline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87D14"/>
                          </a:solidFill>
                        </a:rPr>
                        <a:t>0.191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7D5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7D57"/>
                          </a:solidFill>
                        </a:rPr>
                        <a:t>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A7D57"/>
                          </a:solidFill>
                        </a:rPr>
                        <a:t>0.182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</a:rPr>
                        <a:t>97/100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A7D5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A7D57"/>
                          </a:solidFill>
                        </a:rPr>
                        <a:t>★ SWEET SPOT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43/100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7D5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Over-compress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0.251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45/100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7D5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Over-compress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7404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0.317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</a:rPr>
                        <a:t>14/100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A7D57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</a:rPr>
                        <a:t>Over-compress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869680" y="1234440"/>
            <a:ext cx="30175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0" y="1298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What the sweep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73736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U-shape:Val NMSE forms a U as τ increases.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0392B"/>
                </a:solidFill>
              </a:rPr>
              <a:t>Low τ  (0.01–0.05): vol never activates. Encoder trains freely → memorises.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A7D57"/>
                </a:solidFill>
              </a:rPr>
              <a:t>τ=0.20 SWEET SPOT. Vol activates, light pruning (97 dims), val NMSE minimised at 0.182.</a:t>
            </a:r>
          </a:p>
          <a:p>
            <a:pPr algn="l"/>
            <a:r>
              <a:rPr sz="5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0392B"/>
                </a:solidFill>
              </a:rPr>
              <a:t>High τ (≥0.30): over-compression. Model forced to squeeze too much into too few dims. Val NMSE climbs back up despite pruning (43 → 14 active dims).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F6FEB"/>
                </a:solidFill>
              </a:rPr>
              <a:t>→  τ is the most impactful hyperparameter found so far.</a:t>
            </a:r>
          </a:p>
          <a:p>
            <a:pPr algn="l"/>
            <a:r>
              <a:rPr sz="1300" b="1">
                <a:solidFill>
                  <a:srgbClr val="0A7D57"/>
                </a:solidFill>
              </a:rPr>
              <a:t>→  Best val NMSE overall: 0.182 at τ=0.20.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Strategy 2 — Latent Noise Injection  σ=0.1  [DONE]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Forcing decoder robustness against imprecise codes  ·  τ=0.05 in these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502920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Gaussian noise (σ=0.1) added to each active latent dim before decoding — training only.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Decoder learns neighbourhood robustness: codes near the encoder output should reconstruct correctly.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Prevents train rec from collapsing to near-zero — model cannot memorise exact codes.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Clean z used for volume pressure and pruning statistics — compression driven by true distribution.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Analogy:  Dropout in the latent space. Prevents decoder from relying on exact codes.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Results by variant (ep ~2050, τ=0.05)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5349240"/>
          <a:ext cx="53949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005840"/>
                <a:gridCol w="731520"/>
                <a:gridCol w="914400"/>
                <a:gridCol w="64008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NMSE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Dims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Vanilla LVAE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rec 0.034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</a:rPr>
                        <a:t>5.3×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69/100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cLVAE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0.188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A7D57"/>
                          </a:solidFill>
                        </a:rPr>
                        <a:t>3.8×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</a:rPr>
                        <a:t>cPLVAE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0.091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0.311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A7D57"/>
                          </a:solidFill>
                        </a:rPr>
                        <a:t>3.4×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55657A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77840" y="1234440"/>
            <a:ext cx="630936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298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373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7D57"/>
                </a:solidFill>
              </a:rPr>
              <a:t>✓  cLVAE: val NMSE 0.188 — improvement over GN baseline (0.197). Vol activated. Gap 4.1× → 3.8×.</a:t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✓  Vanilla LVAE: only run achieving real pruning at τ=0.05 (69/100 dims). Noise prevents catastrophic memorisation (train rec stays at 0.006 vs 0.0004 baseline).</a:t>
            </a:r>
          </a:p>
          <a:p>
            <a:pPr algn="l"/>
            <a:r>
              <a:rPr sz="1400" b="0">
                <a:solidFill>
                  <a:srgbClr val="E87D14"/>
                </a:solidFill>
              </a:rPr>
              <a:t>~  cPLVAE: rec_violated throughout (0.091 &gt; 0.05 threshold). Vol never activated. Joint constraint too tight.</a:t>
            </a:r>
          </a:p>
          <a:p>
            <a:pPr algn="l"/>
            <a:r>
              <a:rPr sz="1400" b="0">
                <a:solidFill>
                  <a:srgbClr val="C0392B"/>
                </a:solidFill>
              </a:rPr>
              <a:t>✗  None reached val NMSE &lt; 0.10. Gap persists at 3–5×.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F6FEB"/>
                </a:solidFill>
              </a:rPr>
              <a:t>→  Noise helps but τ=0.05 limits compression. Next: combine noise with τ=0.20 (the sweet spot).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Strategy 3 — Validation-Gated Volume Loss  [DONE — Negative Result]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Gate volume on val NMSE &lt; τ  ·  gate never opened  ·  gap increased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5303520" cy="5212080"/>
          </a:xfrm>
          <a:prstGeom prst="rect">
            <a:avLst/>
          </a:prstGeom>
          <a:solidFill>
            <a:srgbClr val="FFF5F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What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✗  val_nmse_ok = 0 for the entire run (all 3 variants). Gate never opened.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LVAE:   train 0.029 / val 0.226  gap 7.8×  dims 100/100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cLVAE:  train 0.029 / val 0.226  gap 7.9×  dims 100/100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   cPLVAE: train 0.080 / val 0.317  gap 4.0×  dims 100/100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C0392B"/>
                </a:solidFill>
              </a:rPr>
              <a:t>✗  Val NMSE always ~0.23 — the threshold 0.05 is completely unreachable when the gate is blocking compression.</a:t>
            </a:r>
          </a:p>
          <a:p>
            <a:pPr algn="l"/>
            <a:r>
              <a:rPr sz="1400" b="1">
                <a:solidFill>
                  <a:srgbClr val="C0392B"/>
                </a:solidFill>
              </a:rPr>
              <a:t>✗  Gap INCREASED vs GN baseline: 7.8× vs 4.1%. The val gate made things WORSE.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234440"/>
            <a:ext cx="603504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2984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6FEB"/>
                </a:solidFill>
              </a:rPr>
              <a:t>Why removing volume pressure backfires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 Volume pressure is not only a compression mechanism — it is also a regulariser. By forcing the encoder to map designs into a compact manifold, it limits overfitting capacity.</a:t>
            </a:r>
          </a:p>
          <a:p>
            <a:pPr algn="l"/>
            <a:r>
              <a:rPr sz="1400" b="0">
                <a:solidFill>
                  <a:srgbClr val="1A1A2E"/>
                </a:solidFill>
              </a:rPr>
              <a:t>•  Removing volume pressure (via the gate) gives the encoder full freedom to use all 100 latent dimensions. More capacity → more memorisation → larger gap.</a:t>
            </a:r>
          </a:p>
          <a:p>
            <a:pPr algn="l"/>
            <a:r>
              <a:rPr sz="1400" b="0">
                <a:solidFill>
                  <a:srgbClr val="55657A"/>
                </a:solidFill>
              </a:rPr>
              <a:t>→  Result: train rec drops to 0.029 (worse than with vol pressure!) while val NMSE climbs to 0.226.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E87D14"/>
                </a:solidFill>
              </a:rPr>
              <a:t>The fix:Gate threshold must be reachable. With τ_gate=0.05 and val NMSE always ≥ 0.20, the gate is equivalent to permanently disabling the LVAE.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F6FEB"/>
                </a:solidFill>
              </a:rPr>
              <a:t>→  Better approach: use τ_gate=0.25 (reachable) OR gate on a relative criterion (val/train ratio &lt; 2×) rather than an absolute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Complete Results Table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All experiments  ·  constrained LVAE unless noted  ·  ordered by val NMSE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1188720"/>
          <a:ext cx="102412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40080"/>
                <a:gridCol w="731520"/>
                <a:gridCol w="1097280"/>
                <a:gridCol w="1097280"/>
                <a:gridCol w="731520"/>
                <a:gridCol w="1188720"/>
                <a:gridCol w="640080"/>
                <a:gridCol w="9144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τ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Noise σ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NMSE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NMSE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Active dims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Baseline BN (ep 83 ⚠)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0.108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0.171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2E"/>
                          </a:solidFill>
                        </a:rPr>
                        <a:t>τ sweep  τ=0.20  ★ best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0.088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A7D57"/>
                          </a:solidFill>
                        </a:rPr>
                        <a:t>0.182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97/100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E8FF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GN+noise cLVAE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7D14"/>
                          </a:solidFill>
                        </a:rPr>
                        <a:t>0.188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3.8×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τ sweep  τ=0.10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7D14"/>
                          </a:solidFill>
                        </a:rPr>
                        <a:t>0.191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GN encoder cLVAE (baseline)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0.048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7D14"/>
                          </a:solidFill>
                        </a:rPr>
                        <a:t>0.197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4.1×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τ sweep  τ=0.05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E87D14"/>
                          </a:solidFill>
                        </a:rPr>
                        <a:t>0.198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GN+noise vanilla LVAE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0.034*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5.3×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69/100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Val gate cLVAE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0.029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0.226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7.9×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Done 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Val gate vanilla LVAE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0.029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0.226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7.8×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Done 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τ sweep  τ=0.30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43/100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cPLVAE GN+noise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0.091†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0.311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3.4×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Val gate cPLVAE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0.05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0.080†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0.317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4.0×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100/100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Done ✗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τ sweep  τ=0.50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0.126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0.251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45/100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</a:rPr>
                        <a:t>τ sweep  τ=0.70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0.131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C0392B"/>
                          </a:solidFill>
                        </a:rPr>
                        <a:t>0.317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</a:rPr>
                        <a:t>14/100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A7D57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2E"/>
                          </a:solidFill>
                        </a:rPr>
                        <a:t>τ=0.20 + noise  ← NEW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5657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E87D14"/>
                          </a:solidFill>
                        </a:rPr>
                        <a:t>Running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" y="6601968"/>
            <a:ext cx="1188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* val rec (raw) not NMSE  ·  † rec_violated  ·  ★ best val NMSE  ·  ⚠ ep 83 stopped early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What the experiments reveal about LVAE on thermoelastic2D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566928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7D57"/>
                </a:solidFill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7D57"/>
                </a:solidFill>
              </a:rPr>
              <a:t>✓  τ = 0.20 is the sweet spot. Best val NMSE = 0.182, 97/100 active dims, vol activated. τ is more impactful than encoder architecture or noise.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✓  Latent noise (σ=0.1) at τ=0.05 reduces gap from 4.1× → 3.8× and gives val NMSE 0.188. Decoder robustness improves generalisation.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✓  Vanilla LVAE + noise: only run with real pruning at τ=0.05 (69/100 dims). Noise prevents catastrophic memorisation.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✓  GN + SN encoder: correct choice regardless. Eliminates BN stats mismatch and bounds Lipschitz constant.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✓  Sweep answered supervisor question 1: dimensionality sweet spot is ~97 dims at τ=0.20.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234440"/>
            <a:ext cx="57607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What did not work / key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✗  Val gate (absolute τ=0.05): gate never opened. Removing vol pressure increased the gap (7.8× vs 4.1×). Vol pressure IS a regulariser.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0392B"/>
                </a:solidFill>
              </a:rPr>
              <a:t>✗  cPLVAE: joint rec+perf constraint at τ=0.05 is too tight. rec_violated throughout all cPLVAE runs. Needs threshold relaxation.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0392B"/>
                </a:solidFill>
              </a:rPr>
              <a:t>✗  No method achieved val NMSE &lt; 0.10. The 0.05 target on val remains distant.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E87D14"/>
                </a:solidFill>
              </a:rPr>
              <a:t>→  Key insight: over-compression (τ≥0.30) hurts val NMSE as much as under-compression (τ≤0.03). The U-shape is the central finding.</a:t>
            </a:r>
          </a:p>
          <a:p>
            <a:pPr algn="l"/>
            <a:r>
              <a:rPr sz="7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F6FEB"/>
                </a:solidFill>
              </a:rPr>
              <a:t>→  Best unexplored combination: τ=0.20 + noise σ=0.1. Currently running.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— Aligned with Supervisor Suggestions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Prioritised roadmap based on experimental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25880"/>
            <a:ext cx="109728" cy="822960"/>
          </a:xfrm>
          <a:prstGeom prst="rect">
            <a:avLst/>
          </a:prstGeom>
          <a:solidFill>
            <a:srgbClr val="E8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430000" cy="10058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RUNNING  ·  τ=0.20 + noise σ=0.1  (best two strategies combined)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2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Should yield val NMSE ≤ 0.182 with more aggressive pruning. Supervisor question 1 partly answered; this validates whether the two improvements are additive.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23160"/>
            <a:ext cx="109728" cy="822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430000" cy="10058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37744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Dataset complexity vs. dimensionality  (supervisor priority)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743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Subset by weight=1.0 (structural only) vs weight=0.0 (thermal only): how many dims does each sub-problem need? Subset by volfrac range. This directly addresses 'explore LVAE on subsets' and 'relationship between GLVAE dimension and dataset complexity'.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109728" cy="8229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11430000" cy="10058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47472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Condition-aware decoder  (supervisor: 'condition-aware decoder so latent space doesn't need to double up')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8404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Concatenate conditions (volfrac, weight, BC hash) to the decoder input. Latent z encodes only topology structure — not conditions. Should reduce required active dims and improve generalisation.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17720"/>
            <a:ext cx="109728" cy="82296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430000" cy="10058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7200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Val gate with reachable threshold  (τ_gate = 0.20–0.25)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93776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The absolute τ=0.05 gate is permanently closed. Gate on τ_gate=0.20 (reachable) OR on relative criterion val/train ratio &lt; 2×. Combines benefits of compression guard with actual vol pressure.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15000"/>
            <a:ext cx="109728" cy="82296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23560"/>
            <a:ext cx="11430000" cy="100584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669280"/>
            <a:ext cx="10972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Visualisation study  (supervisor: 'overall visualisations of different LVAE variants')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0350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7A"/>
                </a:solidFill>
              </a:rPr>
              <a:t>Compare LVAE variants on: interpolation quality, unconditional sampling, latent clustering by condition (weight, volfrac), placement of unseen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  <a:p>
            <a:pPr algn="l"/>
            <a:r>
              <a:rPr sz="1400">
                <a:solidFill>
                  <a:srgbClr val="CCDDFF"/>
                </a:solidFill>
              </a:rPr>
              <a:t>Progress, key numbers, and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234440"/>
            <a:ext cx="3749039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7D57"/>
                </a:solidFill>
              </a:rPr>
              <a:t>Completed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✓  GN + SN encoder — all 3 variants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✓  Latent noise σ=0.1 — all 3 variants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✓  Val gate τ=0.05 — all 3 variants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✓  τ sweep: 8 values (0.01–0.70)</a:t>
            </a:r>
          </a:p>
          <a:p>
            <a:pPr algn="l"/>
            <a:r>
              <a:rPr sz="1300" b="0">
                <a:solidFill>
                  <a:srgbClr val="E87D14"/>
                </a:solidFill>
              </a:rPr>
              <a:t>⟳  τ=0.20 + noise — running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✓  Dataset confirmed: 14.4k train / 1.8k val+test</a:t>
            </a:r>
          </a:p>
          <a:p>
            <a:pPr algn="l"/>
            <a:r>
              <a:rPr sz="1300" b="0">
                <a:solidFill>
                  <a:srgbClr val="55657A"/>
                </a:solidFill>
              </a:rPr>
              <a:t>✓  All tracked on WandB (spectral_norm_encoder)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1234440"/>
            <a:ext cx="34747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Best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3736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7D57"/>
                </a:solidFill>
              </a:rPr>
              <a:t>★  Val NMSE 0.182</a:t>
            </a:r>
          </a:p>
          <a:p>
            <a:pPr algn="l"/>
            <a:r>
              <a:rPr sz="1200" b="0">
                <a:solidFill>
                  <a:srgbClr val="55657A"/>
                </a:solidFill>
              </a:rPr>
              <a:t>   τ=0.20 sweep / 97 active dims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   Val NMSE 0.188</a:t>
            </a:r>
          </a:p>
          <a:p>
            <a:pPr algn="l"/>
            <a:r>
              <a:rPr sz="1200" b="0">
                <a:solidFill>
                  <a:srgbClr val="55657A"/>
                </a:solidFill>
              </a:rPr>
              <a:t>   cLVAE + noise / τ=0.05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0A7D57"/>
                </a:solidFill>
              </a:rPr>
              <a:t>   69/100 active dims</a:t>
            </a:r>
          </a:p>
          <a:p>
            <a:pPr algn="l"/>
            <a:r>
              <a:rPr sz="1200" b="0">
                <a:solidFill>
                  <a:srgbClr val="55657A"/>
                </a:solidFill>
              </a:rPr>
              <a:t>   Vanilla LVAE + noise (only pruned run)</a:t>
            </a:r>
          </a:p>
          <a:p>
            <a:pPr algn="l"/>
            <a:r>
              <a:rPr sz="9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55657A"/>
                </a:solidFill>
              </a:rPr>
              <a:t>   Baseline BN: val NMSE 0.171 (ep 83, early stopped — not a fair comparison)</a:t>
            </a:r>
          </a:p>
          <a:p>
            <a:pPr algn="l"/>
            <a:r>
              <a:rPr sz="6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0392B"/>
                </a:solidFill>
              </a:rPr>
              <a:t>   Target: val NMSE &lt; 0.05</a:t>
            </a:r>
          </a:p>
          <a:p>
            <a:pPr algn="l"/>
            <a:r>
              <a:rPr sz="1300" b="1">
                <a:solidFill>
                  <a:srgbClr val="C0392B"/>
                </a:solidFill>
              </a:rPr>
              <a:t>   Remaining gap: ~3.6–4×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234440"/>
            <a:ext cx="3931920" cy="5212080"/>
          </a:xfrm>
          <a:prstGeom prst="rect">
            <a:avLst/>
          </a:prstGeom>
          <a:solidFill>
            <a:srgbClr val="F2F4F7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298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6FEB"/>
                </a:solidFill>
              </a:rPr>
              <a:t>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•  τ is the dominant hyperparameter — more impactful than encoder type or noise.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Volume pressure is both a compression mechanism AND a regulariser. Disabling it (val gate) increases overfitting.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The U-shape (unreachable → sweet spot → over-compress) is the central finding. It directly answers the supervisor's 'dimensionality sweet spot' question.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Noise injection and τ tuning are complementary and unexplored in combination — that is the running experiment.</a:t>
            </a:r>
          </a:p>
          <a:p>
            <a:pPr algn="l"/>
            <a:r>
              <a:rPr sz="1300" b="0">
                <a:solidFill>
                  <a:srgbClr val="1A1A2E"/>
                </a:solidFill>
              </a:rPr>
              <a:t>•  Next frontier: dataset subsets by condition (weight, volfrac) to understand how dataset complexity drives the required latent dimensionality.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